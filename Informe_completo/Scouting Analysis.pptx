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9" r:id="rId3"/>
    <p:sldId id="268" r:id="rId4"/>
    <p:sldId id="258" r:id="rId5"/>
    <p:sldId id="269" r:id="rId6"/>
    <p:sldId id="270" r:id="rId7"/>
    <p:sldId id="273" r:id="rId8"/>
    <p:sldId id="276" r:id="rId9"/>
    <p:sldId id="277" r:id="rId10"/>
    <p:sldId id="262" r:id="rId11"/>
    <p:sldId id="263" r:id="rId12"/>
    <p:sldId id="264" r:id="rId13"/>
    <p:sldId id="274" r:id="rId14"/>
    <p:sldId id="278" r:id="rId15"/>
    <p:sldId id="265" r:id="rId16"/>
    <p:sldId id="267" r:id="rId17"/>
    <p:sldId id="266" r:id="rId18"/>
    <p:sldId id="275" r:id="rId19"/>
    <p:sldId id="259" r:id="rId20"/>
    <p:sldId id="271" r:id="rId21"/>
    <p:sldId id="280" r:id="rId22"/>
    <p:sldId id="281" r:id="rId23"/>
    <p:sldId id="28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58" y="1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icontext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0151B50A-CA85-4747-8DC6-5A0BD88B0513}" type="doc">
      <dgm:prSet loTypeId="urn:microsoft.com/office/officeart/2018/2/layout/IconVerticalSolidList" loCatId="icon" qsTypeId="urn:microsoft.com/office/officeart/2005/8/quickstyle/simple1" qsCatId="simple" csTypeId="urn:microsoft.com/office/officeart/2018/5/colors/Iconchunking_neutralicontext_accent2_2" csCatId="accent2" phldr="1"/>
      <dgm:spPr/>
      <dgm:t>
        <a:bodyPr/>
        <a:lstStyle/>
        <a:p>
          <a:endParaRPr lang="en-US"/>
        </a:p>
      </dgm:t>
    </dgm:pt>
    <dgm:pt modelId="{CB5D9608-C312-441D-BEE8-887339A56CD3}">
      <dgm:prSet/>
      <dgm:spPr/>
      <dgm:t>
        <a:bodyPr/>
        <a:lstStyle/>
        <a:p>
          <a:pPr>
            <a:lnSpc>
              <a:spcPct val="100000"/>
            </a:lnSpc>
          </a:pPr>
          <a:r>
            <a:rPr lang="es-MX" dirty="0"/>
            <a:t>Normalización y estandarización de jugadoras de 8 diferentes ligas:</a:t>
          </a:r>
          <a:endParaRPr lang="en-US" dirty="0"/>
        </a:p>
      </dgm:t>
    </dgm:pt>
    <dgm:pt modelId="{62478C23-A526-474A-BD3F-606DAE7AB212}" type="parTrans" cxnId="{12F5670B-AE74-4D6E-AA40-019AF2100CDE}">
      <dgm:prSet/>
      <dgm:spPr/>
      <dgm:t>
        <a:bodyPr/>
        <a:lstStyle/>
        <a:p>
          <a:endParaRPr lang="en-US"/>
        </a:p>
      </dgm:t>
    </dgm:pt>
    <dgm:pt modelId="{988F08B8-FCFC-401D-A2F5-9A3B4694A3A1}" type="sibTrans" cxnId="{12F5670B-AE74-4D6E-AA40-019AF2100CDE}">
      <dgm:prSet/>
      <dgm:spPr/>
      <dgm:t>
        <a:bodyPr/>
        <a:lstStyle/>
        <a:p>
          <a:endParaRPr lang="en-US"/>
        </a:p>
      </dgm:t>
    </dgm:pt>
    <dgm:pt modelId="{D9FBA6F0-EF1D-485C-BA9E-AB548991DAF6}">
      <dgm:prSet/>
      <dgm:spPr/>
      <dgm:t>
        <a:bodyPr/>
        <a:lstStyle/>
        <a:p>
          <a:pPr>
            <a:lnSpc>
              <a:spcPct val="100000"/>
            </a:lnSpc>
          </a:pPr>
          <a:r>
            <a:rPr lang="es-MX"/>
            <a:t>Alemania, China, USA, Brasil, Colombia, España, Francia, Italia,</a:t>
          </a:r>
          <a:endParaRPr lang="en-US"/>
        </a:p>
      </dgm:t>
    </dgm:pt>
    <dgm:pt modelId="{7EF8377D-5A0D-4854-96D6-FC55B1AAFAFC}" type="parTrans" cxnId="{B02E354C-DCA2-428E-B830-91CC6A42F219}">
      <dgm:prSet/>
      <dgm:spPr/>
      <dgm:t>
        <a:bodyPr/>
        <a:lstStyle/>
        <a:p>
          <a:endParaRPr lang="en-US"/>
        </a:p>
      </dgm:t>
    </dgm:pt>
    <dgm:pt modelId="{2AC38FD3-FB0C-4A02-B03E-4FAA0586C2EE}" type="sibTrans" cxnId="{B02E354C-DCA2-428E-B830-91CC6A42F219}">
      <dgm:prSet/>
      <dgm:spPr/>
      <dgm:t>
        <a:bodyPr/>
        <a:lstStyle/>
        <a:p>
          <a:endParaRPr lang="en-US"/>
        </a:p>
      </dgm:t>
    </dgm:pt>
    <dgm:pt modelId="{2A47D51F-5560-4EBF-B88C-40E4159CEEF4}">
      <dgm:prSet/>
      <dgm:spPr/>
      <dgm:t>
        <a:bodyPr/>
        <a:lstStyle/>
        <a:p>
          <a:pPr>
            <a:lnSpc>
              <a:spcPct val="100000"/>
            </a:lnSpc>
          </a:pPr>
          <a:r>
            <a:rPr lang="es-MX"/>
            <a:t>Scoring</a:t>
          </a:r>
          <a:endParaRPr lang="en-US"/>
        </a:p>
      </dgm:t>
    </dgm:pt>
    <dgm:pt modelId="{5B9DBD95-B0DC-4630-9EC2-7BB66801FA4C}" type="parTrans" cxnId="{79A1E529-4FB7-4599-978F-9110B205A6D2}">
      <dgm:prSet/>
      <dgm:spPr/>
      <dgm:t>
        <a:bodyPr/>
        <a:lstStyle/>
        <a:p>
          <a:endParaRPr lang="en-US"/>
        </a:p>
      </dgm:t>
    </dgm:pt>
    <dgm:pt modelId="{1549DF07-E231-4880-8D41-92F55774E018}" type="sibTrans" cxnId="{79A1E529-4FB7-4599-978F-9110B205A6D2}">
      <dgm:prSet/>
      <dgm:spPr/>
      <dgm:t>
        <a:bodyPr/>
        <a:lstStyle/>
        <a:p>
          <a:endParaRPr lang="en-US"/>
        </a:p>
      </dgm:t>
    </dgm:pt>
    <dgm:pt modelId="{809CDEE9-A68A-49F7-8B6C-C2DA46FA9C1F}">
      <dgm:prSet/>
      <dgm:spPr/>
      <dgm:t>
        <a:bodyPr/>
        <a:lstStyle/>
        <a:p>
          <a:pPr>
            <a:lnSpc>
              <a:spcPct val="100000"/>
            </a:lnSpc>
          </a:pPr>
          <a:r>
            <a:rPr lang="es-MX" dirty="0"/>
            <a:t>Se realizaron 2 maneras para ver qué jugadora era mejor </a:t>
          </a:r>
          <a:r>
            <a:rPr lang="es-MX" dirty="0" err="1"/>
            <a:t>fit</a:t>
          </a:r>
          <a:r>
            <a:rPr lang="es-MX" dirty="0"/>
            <a:t> para el equipo, primero con z-score, sin embargo no era funcional para distribuciones no normales.</a:t>
          </a:r>
        </a:p>
        <a:p>
          <a:pPr>
            <a:lnSpc>
              <a:spcPct val="100000"/>
            </a:lnSpc>
          </a:pPr>
          <a:r>
            <a:rPr lang="en-US" dirty="0"/>
            <a:t>Se </a:t>
          </a:r>
          <a:r>
            <a:rPr lang="en-US" dirty="0" err="1"/>
            <a:t>calcularon</a:t>
          </a:r>
          <a:r>
            <a:rPr lang="en-US" dirty="0"/>
            <a:t> percentiles para </a:t>
          </a:r>
          <a:r>
            <a:rPr lang="en-US" dirty="0" err="1"/>
            <a:t>calcular</a:t>
          </a:r>
          <a:r>
            <a:rPr lang="en-US" dirty="0"/>
            <a:t> con </a:t>
          </a:r>
          <a:r>
            <a:rPr lang="en-US" dirty="0" err="1"/>
            <a:t>iguales</a:t>
          </a:r>
          <a:r>
            <a:rPr lang="en-US" dirty="0"/>
            <a:t>.</a:t>
          </a:r>
        </a:p>
      </dgm:t>
    </dgm:pt>
    <dgm:pt modelId="{DEBD661A-7AD4-448B-A9A9-520A7CDCFD68}" type="parTrans" cxnId="{9CF3D7DF-DE47-46B9-8548-140F4EC6D2CC}">
      <dgm:prSet/>
      <dgm:spPr/>
      <dgm:t>
        <a:bodyPr/>
        <a:lstStyle/>
        <a:p>
          <a:endParaRPr lang="en-US"/>
        </a:p>
      </dgm:t>
    </dgm:pt>
    <dgm:pt modelId="{D432B238-EEE7-40B3-BA6B-CF3FB5FB19F1}" type="sibTrans" cxnId="{9CF3D7DF-DE47-46B9-8548-140F4EC6D2CC}">
      <dgm:prSet/>
      <dgm:spPr/>
      <dgm:t>
        <a:bodyPr/>
        <a:lstStyle/>
        <a:p>
          <a:endParaRPr lang="en-US"/>
        </a:p>
      </dgm:t>
    </dgm:pt>
    <dgm:pt modelId="{500BD84B-3551-44C1-93C2-2F5CA0D7B9A7}">
      <dgm:prSet/>
      <dgm:spPr/>
      <dgm:t>
        <a:bodyPr/>
        <a:lstStyle/>
        <a:p>
          <a:pPr>
            <a:lnSpc>
              <a:spcPct val="100000"/>
            </a:lnSpc>
          </a:pPr>
          <a:r>
            <a:rPr lang="es-MX" dirty="0"/>
            <a:t>Se construyó un índice compuesto con pesos por cada variable dependiendo de la posición.</a:t>
          </a:r>
          <a:endParaRPr lang="en-US" dirty="0"/>
        </a:p>
      </dgm:t>
    </dgm:pt>
    <dgm:pt modelId="{3754A842-888F-4B9F-85F5-4812782F7AAB}" type="parTrans" cxnId="{125BE7AE-3A02-44E0-9DE7-CCBF24D8D0B6}">
      <dgm:prSet/>
      <dgm:spPr/>
      <dgm:t>
        <a:bodyPr/>
        <a:lstStyle/>
        <a:p>
          <a:endParaRPr lang="en-US"/>
        </a:p>
      </dgm:t>
    </dgm:pt>
    <dgm:pt modelId="{1D1CFAC1-8F7B-42BA-9B18-8B0E24C2AA6D}" type="sibTrans" cxnId="{125BE7AE-3A02-44E0-9DE7-CCBF24D8D0B6}">
      <dgm:prSet/>
      <dgm:spPr/>
      <dgm:t>
        <a:bodyPr/>
        <a:lstStyle/>
        <a:p>
          <a:endParaRPr lang="en-US"/>
        </a:p>
      </dgm:t>
    </dgm:pt>
    <dgm:pt modelId="{D682744D-E91A-4326-B785-BD955AE6A046}">
      <dgm:prSet/>
      <dgm:spPr/>
      <dgm:t>
        <a:bodyPr/>
        <a:lstStyle/>
        <a:p>
          <a:pPr>
            <a:lnSpc>
              <a:spcPct val="100000"/>
            </a:lnSpc>
          </a:pPr>
          <a:r>
            <a:rPr lang="es-MX"/>
            <a:t>Métricas clave:</a:t>
          </a:r>
          <a:endParaRPr lang="en-US"/>
        </a:p>
      </dgm:t>
    </dgm:pt>
    <dgm:pt modelId="{1EFD2315-66ED-42AB-9DFE-A4A3EE03AC82}" type="parTrans" cxnId="{2BEFDCCB-0FBF-4F8E-8329-00E0AB45916A}">
      <dgm:prSet/>
      <dgm:spPr/>
      <dgm:t>
        <a:bodyPr/>
        <a:lstStyle/>
        <a:p>
          <a:endParaRPr lang="en-US"/>
        </a:p>
      </dgm:t>
    </dgm:pt>
    <dgm:pt modelId="{AD51A251-E718-492F-84CC-3FA82BAD9078}" type="sibTrans" cxnId="{2BEFDCCB-0FBF-4F8E-8329-00E0AB45916A}">
      <dgm:prSet/>
      <dgm:spPr/>
      <dgm:t>
        <a:bodyPr/>
        <a:lstStyle/>
        <a:p>
          <a:endParaRPr lang="en-US"/>
        </a:p>
      </dgm:t>
    </dgm:pt>
    <dgm:pt modelId="{4567B008-683F-44A1-BABE-A764F5EA6AFB}">
      <dgm:prSet/>
      <dgm:spPr/>
      <dgm:t>
        <a:bodyPr/>
        <a:lstStyle/>
        <a:p>
          <a:pPr>
            <a:lnSpc>
              <a:spcPct val="100000"/>
            </a:lnSpc>
          </a:pPr>
          <a:r>
            <a:rPr lang="es-MX"/>
            <a:t>CB: tackles/90, intercepciones/90, despejes/90, posesiones recuperadas/90, duelos aéreos ganados/90, precisión de pase, tarjetas/90.</a:t>
          </a:r>
          <a:endParaRPr lang="en-US"/>
        </a:p>
      </dgm:t>
    </dgm:pt>
    <dgm:pt modelId="{B15AD57D-79DE-48DF-BEAB-65BE2945E8CD}" type="parTrans" cxnId="{EE356B02-57FC-484D-8C33-19BACBEB2D44}">
      <dgm:prSet/>
      <dgm:spPr/>
      <dgm:t>
        <a:bodyPr/>
        <a:lstStyle/>
        <a:p>
          <a:endParaRPr lang="en-US"/>
        </a:p>
      </dgm:t>
    </dgm:pt>
    <dgm:pt modelId="{FF7FB95A-C049-44ED-A744-9759ED5067D1}" type="sibTrans" cxnId="{EE356B02-57FC-484D-8C33-19BACBEB2D44}">
      <dgm:prSet/>
      <dgm:spPr/>
      <dgm:t>
        <a:bodyPr/>
        <a:lstStyle/>
        <a:p>
          <a:endParaRPr lang="en-US"/>
        </a:p>
      </dgm:t>
    </dgm:pt>
    <dgm:pt modelId="{550C6F3D-A56D-4DD0-89C3-CA3C7EF0AE1C}">
      <dgm:prSet/>
      <dgm:spPr/>
      <dgm:t>
        <a:bodyPr/>
        <a:lstStyle/>
        <a:p>
          <a:pPr>
            <a:lnSpc>
              <a:spcPct val="100000"/>
            </a:lnSpc>
          </a:pPr>
          <a:r>
            <a:rPr lang="es-MX"/>
            <a:t>CF: goles/90, xG/90, tiros a puerta/90, tasa de conversión, pases clave/90, duelos aéreos ganados/90.</a:t>
          </a:r>
          <a:endParaRPr lang="en-US"/>
        </a:p>
      </dgm:t>
    </dgm:pt>
    <dgm:pt modelId="{794061A8-4831-411D-9029-0F6FE1A602EB}" type="parTrans" cxnId="{63988F98-9ABD-4222-B1EE-1A17DD12AE89}">
      <dgm:prSet/>
      <dgm:spPr/>
      <dgm:t>
        <a:bodyPr/>
        <a:lstStyle/>
        <a:p>
          <a:endParaRPr lang="en-US"/>
        </a:p>
      </dgm:t>
    </dgm:pt>
    <dgm:pt modelId="{334A93A1-D4FC-4FAC-B67C-1F04BA61C8A9}" type="sibTrans" cxnId="{63988F98-9ABD-4222-B1EE-1A17DD12AE89}">
      <dgm:prSet/>
      <dgm:spPr/>
      <dgm:t>
        <a:bodyPr/>
        <a:lstStyle/>
        <a:p>
          <a:endParaRPr lang="en-US"/>
        </a:p>
      </dgm:t>
    </dgm:pt>
    <dgm:pt modelId="{AEA9C1AF-2636-4D7D-966B-0C5EBD5D50F2}">
      <dgm:prSet/>
      <dgm:spPr/>
      <dgm:t>
        <a:bodyPr/>
        <a:lstStyle/>
        <a:p>
          <a:pPr>
            <a:lnSpc>
              <a:spcPct val="100000"/>
            </a:lnSpc>
          </a:pPr>
          <a:r>
            <a:rPr lang="es-MX" dirty="0"/>
            <a:t>Factor multiplicativo 0.2–1.2 según: dificultad del club/liga de origen.</a:t>
          </a:r>
          <a:endParaRPr lang="en-US" dirty="0"/>
        </a:p>
      </dgm:t>
    </dgm:pt>
    <dgm:pt modelId="{B3411E01-4FD9-4922-AB50-6E6E12F92BB8}" type="parTrans" cxnId="{E1E22C73-15FD-4CBA-A303-CCA403BE2E46}">
      <dgm:prSet/>
      <dgm:spPr/>
      <dgm:t>
        <a:bodyPr/>
        <a:lstStyle/>
        <a:p>
          <a:endParaRPr lang="en-US"/>
        </a:p>
      </dgm:t>
    </dgm:pt>
    <dgm:pt modelId="{DE24987A-EAEF-4C32-853D-F86D2CB3AEF9}" type="sibTrans" cxnId="{E1E22C73-15FD-4CBA-A303-CCA403BE2E46}">
      <dgm:prSet/>
      <dgm:spPr/>
      <dgm:t>
        <a:bodyPr/>
        <a:lstStyle/>
        <a:p>
          <a:endParaRPr lang="en-US"/>
        </a:p>
      </dgm:t>
    </dgm:pt>
    <dgm:pt modelId="{406B553B-3F61-4247-997A-BC617EA2C8F9}">
      <dgm:prSet/>
      <dgm:spPr/>
      <dgm:t>
        <a:bodyPr/>
        <a:lstStyle/>
        <a:p>
          <a:pPr>
            <a:lnSpc>
              <a:spcPct val="100000"/>
            </a:lnSpc>
          </a:pPr>
          <a:r>
            <a:rPr lang="es-MX"/>
            <a:t>Filtros:</a:t>
          </a:r>
          <a:endParaRPr lang="en-US"/>
        </a:p>
      </dgm:t>
    </dgm:pt>
    <dgm:pt modelId="{6FAD1D96-38A3-4F06-80E5-BC971B753635}" type="parTrans" cxnId="{CCCB954C-7BD3-4C97-B247-B3745BC898F0}">
      <dgm:prSet/>
      <dgm:spPr/>
      <dgm:t>
        <a:bodyPr/>
        <a:lstStyle/>
        <a:p>
          <a:endParaRPr lang="en-US"/>
        </a:p>
      </dgm:t>
    </dgm:pt>
    <dgm:pt modelId="{BC0261C8-3C57-44A0-96E8-A96E1C04FD88}" type="sibTrans" cxnId="{CCCB954C-7BD3-4C97-B247-B3745BC898F0}">
      <dgm:prSet/>
      <dgm:spPr/>
      <dgm:t>
        <a:bodyPr/>
        <a:lstStyle/>
        <a:p>
          <a:endParaRPr lang="en-US"/>
        </a:p>
      </dgm:t>
    </dgm:pt>
    <dgm:pt modelId="{94228FA3-39CA-4165-ABD0-4D07F1840FDD}">
      <dgm:prSet/>
      <dgm:spPr/>
      <dgm:t>
        <a:bodyPr/>
        <a:lstStyle/>
        <a:p>
          <a:pPr>
            <a:lnSpc>
              <a:spcPct val="100000"/>
            </a:lnSpc>
          </a:pPr>
          <a:r>
            <a:rPr lang="es-MX" dirty="0"/>
            <a:t>Edad</a:t>
          </a:r>
        </a:p>
        <a:p>
          <a:pPr>
            <a:lnSpc>
              <a:spcPct val="100000"/>
            </a:lnSpc>
          </a:pPr>
          <a:r>
            <a:rPr lang="es-MX" dirty="0"/>
            <a:t>No jugar en la liga MX</a:t>
          </a:r>
          <a:endParaRPr lang="en-US" dirty="0"/>
        </a:p>
      </dgm:t>
    </dgm:pt>
    <dgm:pt modelId="{0714DAE5-3904-451B-AC84-0AA3849C98FA}" type="parTrans" cxnId="{0ACDACE0-BE28-4685-8176-0E1587151E0E}">
      <dgm:prSet/>
      <dgm:spPr/>
      <dgm:t>
        <a:bodyPr/>
        <a:lstStyle/>
        <a:p>
          <a:endParaRPr lang="en-US"/>
        </a:p>
      </dgm:t>
    </dgm:pt>
    <dgm:pt modelId="{6F328BE6-7DA6-45A8-8BBA-849A1EB44BA2}" type="sibTrans" cxnId="{0ACDACE0-BE28-4685-8176-0E1587151E0E}">
      <dgm:prSet/>
      <dgm:spPr/>
      <dgm:t>
        <a:bodyPr/>
        <a:lstStyle/>
        <a:p>
          <a:endParaRPr lang="en-US"/>
        </a:p>
      </dgm:t>
    </dgm:pt>
    <dgm:pt modelId="{592B46F1-2AD7-4C76-8AE3-4D317C48D9D0}" type="pres">
      <dgm:prSet presAssocID="{0151B50A-CA85-4747-8DC6-5A0BD88B0513}" presName="root" presStyleCnt="0">
        <dgm:presLayoutVars>
          <dgm:dir/>
          <dgm:resizeHandles val="exact"/>
        </dgm:presLayoutVars>
      </dgm:prSet>
      <dgm:spPr/>
    </dgm:pt>
    <dgm:pt modelId="{1D21028D-B5F7-468F-A18F-2AFC55690891}" type="pres">
      <dgm:prSet presAssocID="{CB5D9608-C312-441D-BEE8-887339A56CD3}" presName="compNode" presStyleCnt="0"/>
      <dgm:spPr/>
    </dgm:pt>
    <dgm:pt modelId="{7E523AB8-AABE-4C26-ABFC-74D53AE13134}" type="pres">
      <dgm:prSet presAssocID="{CB5D9608-C312-441D-BEE8-887339A56CD3}" presName="bgRect" presStyleLbl="bgShp" presStyleIdx="0" presStyleCnt="4"/>
      <dgm:spPr/>
    </dgm:pt>
    <dgm:pt modelId="{586BCDA2-FAE8-492F-9305-EFF422E6BC5F}" type="pres">
      <dgm:prSet presAssocID="{CB5D9608-C312-441D-BEE8-887339A56C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occer Player"/>
        </a:ext>
      </dgm:extLst>
    </dgm:pt>
    <dgm:pt modelId="{539ECC74-3D4E-4ACE-98C0-BBC368778A50}" type="pres">
      <dgm:prSet presAssocID="{CB5D9608-C312-441D-BEE8-887339A56CD3}" presName="spaceRect" presStyleCnt="0"/>
      <dgm:spPr/>
    </dgm:pt>
    <dgm:pt modelId="{99CE1EA3-895C-4775-9C91-85E778C012B8}" type="pres">
      <dgm:prSet presAssocID="{CB5D9608-C312-441D-BEE8-887339A56CD3}" presName="parTx" presStyleLbl="revTx" presStyleIdx="0" presStyleCnt="8">
        <dgm:presLayoutVars>
          <dgm:chMax val="0"/>
          <dgm:chPref val="0"/>
        </dgm:presLayoutVars>
      </dgm:prSet>
      <dgm:spPr/>
    </dgm:pt>
    <dgm:pt modelId="{F6E7FEEC-1AAD-4C05-8587-27C0E4243C38}" type="pres">
      <dgm:prSet presAssocID="{CB5D9608-C312-441D-BEE8-887339A56CD3}" presName="desTx" presStyleLbl="revTx" presStyleIdx="1" presStyleCnt="8">
        <dgm:presLayoutVars/>
      </dgm:prSet>
      <dgm:spPr/>
    </dgm:pt>
    <dgm:pt modelId="{D440993A-1F27-407D-BAEC-C68272E54F86}" type="pres">
      <dgm:prSet presAssocID="{988F08B8-FCFC-401D-A2F5-9A3B4694A3A1}" presName="sibTrans" presStyleCnt="0"/>
      <dgm:spPr/>
    </dgm:pt>
    <dgm:pt modelId="{AAE92859-F1C0-4515-9B8F-3BCD9322ED64}" type="pres">
      <dgm:prSet presAssocID="{2A47D51F-5560-4EBF-B88C-40E4159CEEF4}" presName="compNode" presStyleCnt="0"/>
      <dgm:spPr/>
    </dgm:pt>
    <dgm:pt modelId="{5A372826-7C59-4BC8-9E9C-98E550CCC8C0}" type="pres">
      <dgm:prSet presAssocID="{2A47D51F-5560-4EBF-B88C-40E4159CEEF4}" presName="bgRect" presStyleLbl="bgShp" presStyleIdx="1" presStyleCnt="4"/>
      <dgm:spPr/>
    </dgm:pt>
    <dgm:pt modelId="{E963FC57-2361-41B7-820E-3E4AFF4EA763}" type="pres">
      <dgm:prSet presAssocID="{2A47D51F-5560-4EBF-B88C-40E4159CEEF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lón de fútbol"/>
        </a:ext>
      </dgm:extLst>
    </dgm:pt>
    <dgm:pt modelId="{AE25DC2F-0B25-4606-8352-6EEB867F5FC3}" type="pres">
      <dgm:prSet presAssocID="{2A47D51F-5560-4EBF-B88C-40E4159CEEF4}" presName="spaceRect" presStyleCnt="0"/>
      <dgm:spPr/>
    </dgm:pt>
    <dgm:pt modelId="{6D05A130-44DC-4A1A-96E9-E462EB34AD6C}" type="pres">
      <dgm:prSet presAssocID="{2A47D51F-5560-4EBF-B88C-40E4159CEEF4}" presName="parTx" presStyleLbl="revTx" presStyleIdx="2" presStyleCnt="8">
        <dgm:presLayoutVars>
          <dgm:chMax val="0"/>
          <dgm:chPref val="0"/>
        </dgm:presLayoutVars>
      </dgm:prSet>
      <dgm:spPr/>
    </dgm:pt>
    <dgm:pt modelId="{2EB9DB99-1483-42BA-A3F0-6ABABA54D5C8}" type="pres">
      <dgm:prSet presAssocID="{2A47D51F-5560-4EBF-B88C-40E4159CEEF4}" presName="desTx" presStyleLbl="revTx" presStyleIdx="3" presStyleCnt="8">
        <dgm:presLayoutVars/>
      </dgm:prSet>
      <dgm:spPr/>
    </dgm:pt>
    <dgm:pt modelId="{D24ECDB2-8C00-4D57-B2CD-5DEFA1496007}" type="pres">
      <dgm:prSet presAssocID="{1549DF07-E231-4880-8D41-92F55774E018}" presName="sibTrans" presStyleCnt="0"/>
      <dgm:spPr/>
    </dgm:pt>
    <dgm:pt modelId="{94A4BAA3-059D-4A54-9872-F78CB284AB10}" type="pres">
      <dgm:prSet presAssocID="{D682744D-E91A-4326-B785-BD955AE6A046}" presName="compNode" presStyleCnt="0"/>
      <dgm:spPr/>
    </dgm:pt>
    <dgm:pt modelId="{1F126E89-EE60-4E59-9CF8-EB0D21661479}" type="pres">
      <dgm:prSet presAssocID="{D682744D-E91A-4326-B785-BD955AE6A046}" presName="bgRect" presStyleLbl="bgShp" presStyleIdx="2" presStyleCnt="4"/>
      <dgm:spPr/>
    </dgm:pt>
    <dgm:pt modelId="{F2DE4176-D60C-42C9-8D8D-0D8023FF8574}" type="pres">
      <dgm:prSet presAssocID="{D682744D-E91A-4326-B785-BD955AE6A04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ve"/>
        </a:ext>
      </dgm:extLst>
    </dgm:pt>
    <dgm:pt modelId="{EA2669A1-EC43-4F16-9EFA-10D097B7A150}" type="pres">
      <dgm:prSet presAssocID="{D682744D-E91A-4326-B785-BD955AE6A046}" presName="spaceRect" presStyleCnt="0"/>
      <dgm:spPr/>
    </dgm:pt>
    <dgm:pt modelId="{58888A66-DD60-4187-B1D0-2A56532502C6}" type="pres">
      <dgm:prSet presAssocID="{D682744D-E91A-4326-B785-BD955AE6A046}" presName="parTx" presStyleLbl="revTx" presStyleIdx="4" presStyleCnt="8">
        <dgm:presLayoutVars>
          <dgm:chMax val="0"/>
          <dgm:chPref val="0"/>
        </dgm:presLayoutVars>
      </dgm:prSet>
      <dgm:spPr/>
    </dgm:pt>
    <dgm:pt modelId="{D6E7E078-C896-499D-8445-A0AC03EEC9F0}" type="pres">
      <dgm:prSet presAssocID="{D682744D-E91A-4326-B785-BD955AE6A046}" presName="desTx" presStyleLbl="revTx" presStyleIdx="5" presStyleCnt="8">
        <dgm:presLayoutVars/>
      </dgm:prSet>
      <dgm:spPr/>
    </dgm:pt>
    <dgm:pt modelId="{84E81A56-DE43-461F-8FA8-DCEEB80030B5}" type="pres">
      <dgm:prSet presAssocID="{AD51A251-E718-492F-84CC-3FA82BAD9078}" presName="sibTrans" presStyleCnt="0"/>
      <dgm:spPr/>
    </dgm:pt>
    <dgm:pt modelId="{B6DBA82F-DACD-46B0-BEBE-D2A750B24974}" type="pres">
      <dgm:prSet presAssocID="{406B553B-3F61-4247-997A-BC617EA2C8F9}" presName="compNode" presStyleCnt="0"/>
      <dgm:spPr/>
    </dgm:pt>
    <dgm:pt modelId="{412B1705-70BC-45AC-950B-484A69401640}" type="pres">
      <dgm:prSet presAssocID="{406B553B-3F61-4247-997A-BC617EA2C8F9}" presName="bgRect" presStyleLbl="bgShp" presStyleIdx="3" presStyleCnt="4"/>
      <dgm:spPr/>
    </dgm:pt>
    <dgm:pt modelId="{D96597DE-2A3F-4F49-B4D5-53038B2C1614}" type="pres">
      <dgm:prSet presAssocID="{406B553B-3F61-4247-997A-BC617EA2C8F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ltro"/>
        </a:ext>
      </dgm:extLst>
    </dgm:pt>
    <dgm:pt modelId="{9B331F39-FAEF-45E4-BB1A-787F1EE322C1}" type="pres">
      <dgm:prSet presAssocID="{406B553B-3F61-4247-997A-BC617EA2C8F9}" presName="spaceRect" presStyleCnt="0"/>
      <dgm:spPr/>
    </dgm:pt>
    <dgm:pt modelId="{C651D059-B8DF-479D-8CAD-4231FE79ECA2}" type="pres">
      <dgm:prSet presAssocID="{406B553B-3F61-4247-997A-BC617EA2C8F9}" presName="parTx" presStyleLbl="revTx" presStyleIdx="6" presStyleCnt="8">
        <dgm:presLayoutVars>
          <dgm:chMax val="0"/>
          <dgm:chPref val="0"/>
        </dgm:presLayoutVars>
      </dgm:prSet>
      <dgm:spPr/>
    </dgm:pt>
    <dgm:pt modelId="{3118EB4A-10AA-4170-8530-2626DDA4B9A2}" type="pres">
      <dgm:prSet presAssocID="{406B553B-3F61-4247-997A-BC617EA2C8F9}" presName="desTx" presStyleLbl="revTx" presStyleIdx="7" presStyleCnt="8">
        <dgm:presLayoutVars/>
      </dgm:prSet>
      <dgm:spPr/>
    </dgm:pt>
  </dgm:ptLst>
  <dgm:cxnLst>
    <dgm:cxn modelId="{EE356B02-57FC-484D-8C33-19BACBEB2D44}" srcId="{D682744D-E91A-4326-B785-BD955AE6A046}" destId="{4567B008-683F-44A1-BABE-A764F5EA6AFB}" srcOrd="0" destOrd="0" parTransId="{B15AD57D-79DE-48DF-BEAB-65BE2945E8CD}" sibTransId="{FF7FB95A-C049-44ED-A744-9759ED5067D1}"/>
    <dgm:cxn modelId="{BB66AA08-F282-4887-B680-BCABCF589767}" type="presOf" srcId="{500BD84B-3551-44C1-93C2-2F5CA0D7B9A7}" destId="{2EB9DB99-1483-42BA-A3F0-6ABABA54D5C8}" srcOrd="0" destOrd="1" presId="urn:microsoft.com/office/officeart/2018/2/layout/IconVerticalSolidList"/>
    <dgm:cxn modelId="{12F5670B-AE74-4D6E-AA40-019AF2100CDE}" srcId="{0151B50A-CA85-4747-8DC6-5A0BD88B0513}" destId="{CB5D9608-C312-441D-BEE8-887339A56CD3}" srcOrd="0" destOrd="0" parTransId="{62478C23-A526-474A-BD3F-606DAE7AB212}" sibTransId="{988F08B8-FCFC-401D-A2F5-9A3B4694A3A1}"/>
    <dgm:cxn modelId="{347FA20B-8538-4D14-9AC6-F9B54D0CE9D2}" type="presOf" srcId="{809CDEE9-A68A-49F7-8B6C-C2DA46FA9C1F}" destId="{2EB9DB99-1483-42BA-A3F0-6ABABA54D5C8}" srcOrd="0" destOrd="0" presId="urn:microsoft.com/office/officeart/2018/2/layout/IconVerticalSolidList"/>
    <dgm:cxn modelId="{79A1E529-4FB7-4599-978F-9110B205A6D2}" srcId="{0151B50A-CA85-4747-8DC6-5A0BD88B0513}" destId="{2A47D51F-5560-4EBF-B88C-40E4159CEEF4}" srcOrd="1" destOrd="0" parTransId="{5B9DBD95-B0DC-4630-9EC2-7BB66801FA4C}" sibTransId="{1549DF07-E231-4880-8D41-92F55774E018}"/>
    <dgm:cxn modelId="{5E4E175C-5C03-4867-AD0C-C591999E1995}" type="presOf" srcId="{550C6F3D-A56D-4DD0-89C3-CA3C7EF0AE1C}" destId="{D6E7E078-C896-499D-8445-A0AC03EEC9F0}" srcOrd="0" destOrd="1" presId="urn:microsoft.com/office/officeart/2018/2/layout/IconVerticalSolidList"/>
    <dgm:cxn modelId="{15F2896B-4803-475C-9700-2D6A391110F9}" type="presOf" srcId="{2A47D51F-5560-4EBF-B88C-40E4159CEEF4}" destId="{6D05A130-44DC-4A1A-96E9-E462EB34AD6C}" srcOrd="0" destOrd="0" presId="urn:microsoft.com/office/officeart/2018/2/layout/IconVerticalSolidList"/>
    <dgm:cxn modelId="{B02E354C-DCA2-428E-B830-91CC6A42F219}" srcId="{CB5D9608-C312-441D-BEE8-887339A56CD3}" destId="{D9FBA6F0-EF1D-485C-BA9E-AB548991DAF6}" srcOrd="0" destOrd="0" parTransId="{7EF8377D-5A0D-4854-96D6-FC55B1AAFAFC}" sibTransId="{2AC38FD3-FB0C-4A02-B03E-4FAA0586C2EE}"/>
    <dgm:cxn modelId="{CCCB954C-7BD3-4C97-B247-B3745BC898F0}" srcId="{0151B50A-CA85-4747-8DC6-5A0BD88B0513}" destId="{406B553B-3F61-4247-997A-BC617EA2C8F9}" srcOrd="3" destOrd="0" parTransId="{6FAD1D96-38A3-4F06-80E5-BC971B753635}" sibTransId="{BC0261C8-3C57-44A0-96E8-A96E1C04FD88}"/>
    <dgm:cxn modelId="{E1E22C73-15FD-4CBA-A303-CCA403BE2E46}" srcId="{D682744D-E91A-4326-B785-BD955AE6A046}" destId="{AEA9C1AF-2636-4D7D-966B-0C5EBD5D50F2}" srcOrd="2" destOrd="0" parTransId="{B3411E01-4FD9-4922-AB50-6E6E12F92BB8}" sibTransId="{DE24987A-EAEF-4C32-853D-F86D2CB3AEF9}"/>
    <dgm:cxn modelId="{93E3A476-9A64-4121-AE07-41580E3E240A}" type="presOf" srcId="{0151B50A-CA85-4747-8DC6-5A0BD88B0513}" destId="{592B46F1-2AD7-4C76-8AE3-4D317C48D9D0}" srcOrd="0" destOrd="0" presId="urn:microsoft.com/office/officeart/2018/2/layout/IconVerticalSolidList"/>
    <dgm:cxn modelId="{63988F98-9ABD-4222-B1EE-1A17DD12AE89}" srcId="{D682744D-E91A-4326-B785-BD955AE6A046}" destId="{550C6F3D-A56D-4DD0-89C3-CA3C7EF0AE1C}" srcOrd="1" destOrd="0" parTransId="{794061A8-4831-411D-9029-0F6FE1A602EB}" sibTransId="{334A93A1-D4FC-4FAC-B67C-1F04BA61C8A9}"/>
    <dgm:cxn modelId="{C2B0449A-9A5B-428A-831C-FC3D4313F4E0}" type="presOf" srcId="{D9FBA6F0-EF1D-485C-BA9E-AB548991DAF6}" destId="{F6E7FEEC-1AAD-4C05-8587-27C0E4243C38}" srcOrd="0" destOrd="0" presId="urn:microsoft.com/office/officeart/2018/2/layout/IconVerticalSolidList"/>
    <dgm:cxn modelId="{CAEA3AA7-716F-4D4A-B106-00322AE84499}" type="presOf" srcId="{406B553B-3F61-4247-997A-BC617EA2C8F9}" destId="{C651D059-B8DF-479D-8CAD-4231FE79ECA2}" srcOrd="0" destOrd="0" presId="urn:microsoft.com/office/officeart/2018/2/layout/IconVerticalSolidList"/>
    <dgm:cxn modelId="{125BE7AE-3A02-44E0-9DE7-CCBF24D8D0B6}" srcId="{2A47D51F-5560-4EBF-B88C-40E4159CEEF4}" destId="{500BD84B-3551-44C1-93C2-2F5CA0D7B9A7}" srcOrd="1" destOrd="0" parTransId="{3754A842-888F-4B9F-85F5-4812782F7AAB}" sibTransId="{1D1CFAC1-8F7B-42BA-9B18-8B0E24C2AA6D}"/>
    <dgm:cxn modelId="{817360B8-3ABA-4912-88EF-B555BE14A49C}" type="presOf" srcId="{94228FA3-39CA-4165-ABD0-4D07F1840FDD}" destId="{3118EB4A-10AA-4170-8530-2626DDA4B9A2}" srcOrd="0" destOrd="0" presId="urn:microsoft.com/office/officeart/2018/2/layout/IconVerticalSolidList"/>
    <dgm:cxn modelId="{5C0231C2-0AEF-4903-B019-DAC370878AFD}" type="presOf" srcId="{4567B008-683F-44A1-BABE-A764F5EA6AFB}" destId="{D6E7E078-C896-499D-8445-A0AC03EEC9F0}" srcOrd="0" destOrd="0" presId="urn:microsoft.com/office/officeart/2018/2/layout/IconVerticalSolidList"/>
    <dgm:cxn modelId="{700711C8-A976-4D07-9E93-56644705442F}" type="presOf" srcId="{CB5D9608-C312-441D-BEE8-887339A56CD3}" destId="{99CE1EA3-895C-4775-9C91-85E778C012B8}" srcOrd="0" destOrd="0" presId="urn:microsoft.com/office/officeart/2018/2/layout/IconVerticalSolidList"/>
    <dgm:cxn modelId="{2BEFDCCB-0FBF-4F8E-8329-00E0AB45916A}" srcId="{0151B50A-CA85-4747-8DC6-5A0BD88B0513}" destId="{D682744D-E91A-4326-B785-BD955AE6A046}" srcOrd="2" destOrd="0" parTransId="{1EFD2315-66ED-42AB-9DFE-A4A3EE03AC82}" sibTransId="{AD51A251-E718-492F-84CC-3FA82BAD9078}"/>
    <dgm:cxn modelId="{9CF3D7DF-DE47-46B9-8548-140F4EC6D2CC}" srcId="{2A47D51F-5560-4EBF-B88C-40E4159CEEF4}" destId="{809CDEE9-A68A-49F7-8B6C-C2DA46FA9C1F}" srcOrd="0" destOrd="0" parTransId="{DEBD661A-7AD4-448B-A9A9-520A7CDCFD68}" sibTransId="{D432B238-EEE7-40B3-BA6B-CF3FB5FB19F1}"/>
    <dgm:cxn modelId="{0ACDACE0-BE28-4685-8176-0E1587151E0E}" srcId="{406B553B-3F61-4247-997A-BC617EA2C8F9}" destId="{94228FA3-39CA-4165-ABD0-4D07F1840FDD}" srcOrd="0" destOrd="0" parTransId="{0714DAE5-3904-451B-AC84-0AA3849C98FA}" sibTransId="{6F328BE6-7DA6-45A8-8BBA-849A1EB44BA2}"/>
    <dgm:cxn modelId="{6A36E0F2-C078-4068-AAD3-C09F7F6DFF52}" type="presOf" srcId="{D682744D-E91A-4326-B785-BD955AE6A046}" destId="{58888A66-DD60-4187-B1D0-2A56532502C6}" srcOrd="0" destOrd="0" presId="urn:microsoft.com/office/officeart/2018/2/layout/IconVerticalSolidList"/>
    <dgm:cxn modelId="{67E3E2FA-C0BE-4ED5-A3B2-31E7E0BD28A1}" type="presOf" srcId="{AEA9C1AF-2636-4D7D-966B-0C5EBD5D50F2}" destId="{D6E7E078-C896-499D-8445-A0AC03EEC9F0}" srcOrd="0" destOrd="2" presId="urn:microsoft.com/office/officeart/2018/2/layout/IconVerticalSolidList"/>
    <dgm:cxn modelId="{4394B351-EC6A-4B20-BAF1-18199ED4862B}" type="presParOf" srcId="{592B46F1-2AD7-4C76-8AE3-4D317C48D9D0}" destId="{1D21028D-B5F7-468F-A18F-2AFC55690891}" srcOrd="0" destOrd="0" presId="urn:microsoft.com/office/officeart/2018/2/layout/IconVerticalSolidList"/>
    <dgm:cxn modelId="{5A2A24E7-7B19-41AB-AD69-8A7CE4E0C333}" type="presParOf" srcId="{1D21028D-B5F7-468F-A18F-2AFC55690891}" destId="{7E523AB8-AABE-4C26-ABFC-74D53AE13134}" srcOrd="0" destOrd="0" presId="urn:microsoft.com/office/officeart/2018/2/layout/IconVerticalSolidList"/>
    <dgm:cxn modelId="{3D82A22C-5B26-42D5-9576-FDA17D83EAB8}" type="presParOf" srcId="{1D21028D-B5F7-468F-A18F-2AFC55690891}" destId="{586BCDA2-FAE8-492F-9305-EFF422E6BC5F}" srcOrd="1" destOrd="0" presId="urn:microsoft.com/office/officeart/2018/2/layout/IconVerticalSolidList"/>
    <dgm:cxn modelId="{D798EF14-E037-4A03-B419-76FFCF9D59DF}" type="presParOf" srcId="{1D21028D-B5F7-468F-A18F-2AFC55690891}" destId="{539ECC74-3D4E-4ACE-98C0-BBC368778A50}" srcOrd="2" destOrd="0" presId="urn:microsoft.com/office/officeart/2018/2/layout/IconVerticalSolidList"/>
    <dgm:cxn modelId="{38008C6C-4067-4B0F-970D-F64AD70F9DFA}" type="presParOf" srcId="{1D21028D-B5F7-468F-A18F-2AFC55690891}" destId="{99CE1EA3-895C-4775-9C91-85E778C012B8}" srcOrd="3" destOrd="0" presId="urn:microsoft.com/office/officeart/2018/2/layout/IconVerticalSolidList"/>
    <dgm:cxn modelId="{634A98CA-67D4-4751-B93F-70ADB006FE09}" type="presParOf" srcId="{1D21028D-B5F7-468F-A18F-2AFC55690891}" destId="{F6E7FEEC-1AAD-4C05-8587-27C0E4243C38}" srcOrd="4" destOrd="0" presId="urn:microsoft.com/office/officeart/2018/2/layout/IconVerticalSolidList"/>
    <dgm:cxn modelId="{2DFE0279-B83B-4B53-BA18-284E52FE6B95}" type="presParOf" srcId="{592B46F1-2AD7-4C76-8AE3-4D317C48D9D0}" destId="{D440993A-1F27-407D-BAEC-C68272E54F86}" srcOrd="1" destOrd="0" presId="urn:microsoft.com/office/officeart/2018/2/layout/IconVerticalSolidList"/>
    <dgm:cxn modelId="{364D7ED9-169E-4889-9B31-64BCED99DF27}" type="presParOf" srcId="{592B46F1-2AD7-4C76-8AE3-4D317C48D9D0}" destId="{AAE92859-F1C0-4515-9B8F-3BCD9322ED64}" srcOrd="2" destOrd="0" presId="urn:microsoft.com/office/officeart/2018/2/layout/IconVerticalSolidList"/>
    <dgm:cxn modelId="{0AC6BB62-374F-4B51-ACB5-AAD2433F260E}" type="presParOf" srcId="{AAE92859-F1C0-4515-9B8F-3BCD9322ED64}" destId="{5A372826-7C59-4BC8-9E9C-98E550CCC8C0}" srcOrd="0" destOrd="0" presId="urn:microsoft.com/office/officeart/2018/2/layout/IconVerticalSolidList"/>
    <dgm:cxn modelId="{18D12D83-D888-4709-A7A0-DD8FF58CAF0A}" type="presParOf" srcId="{AAE92859-F1C0-4515-9B8F-3BCD9322ED64}" destId="{E963FC57-2361-41B7-820E-3E4AFF4EA763}" srcOrd="1" destOrd="0" presId="urn:microsoft.com/office/officeart/2018/2/layout/IconVerticalSolidList"/>
    <dgm:cxn modelId="{C19DACEF-3C8B-4D3A-9F3D-DD2EECB57624}" type="presParOf" srcId="{AAE92859-F1C0-4515-9B8F-3BCD9322ED64}" destId="{AE25DC2F-0B25-4606-8352-6EEB867F5FC3}" srcOrd="2" destOrd="0" presId="urn:microsoft.com/office/officeart/2018/2/layout/IconVerticalSolidList"/>
    <dgm:cxn modelId="{C3F4EB11-D31F-460E-B6C6-096F7621D6D0}" type="presParOf" srcId="{AAE92859-F1C0-4515-9B8F-3BCD9322ED64}" destId="{6D05A130-44DC-4A1A-96E9-E462EB34AD6C}" srcOrd="3" destOrd="0" presId="urn:microsoft.com/office/officeart/2018/2/layout/IconVerticalSolidList"/>
    <dgm:cxn modelId="{4055819C-9871-4C46-A21C-95241DE0A050}" type="presParOf" srcId="{AAE92859-F1C0-4515-9B8F-3BCD9322ED64}" destId="{2EB9DB99-1483-42BA-A3F0-6ABABA54D5C8}" srcOrd="4" destOrd="0" presId="urn:microsoft.com/office/officeart/2018/2/layout/IconVerticalSolidList"/>
    <dgm:cxn modelId="{36CE7A94-01DF-4680-8247-C443F2211967}" type="presParOf" srcId="{592B46F1-2AD7-4C76-8AE3-4D317C48D9D0}" destId="{D24ECDB2-8C00-4D57-B2CD-5DEFA1496007}" srcOrd="3" destOrd="0" presId="urn:microsoft.com/office/officeart/2018/2/layout/IconVerticalSolidList"/>
    <dgm:cxn modelId="{83691F3D-82BE-46CF-99DF-1C4CF6B066E9}" type="presParOf" srcId="{592B46F1-2AD7-4C76-8AE3-4D317C48D9D0}" destId="{94A4BAA3-059D-4A54-9872-F78CB284AB10}" srcOrd="4" destOrd="0" presId="urn:microsoft.com/office/officeart/2018/2/layout/IconVerticalSolidList"/>
    <dgm:cxn modelId="{22415C92-EF7A-41D7-8784-658318F0FEC5}" type="presParOf" srcId="{94A4BAA3-059D-4A54-9872-F78CB284AB10}" destId="{1F126E89-EE60-4E59-9CF8-EB0D21661479}" srcOrd="0" destOrd="0" presId="urn:microsoft.com/office/officeart/2018/2/layout/IconVerticalSolidList"/>
    <dgm:cxn modelId="{8CA10028-B7CE-4788-BD5B-23362EB3B66A}" type="presParOf" srcId="{94A4BAA3-059D-4A54-9872-F78CB284AB10}" destId="{F2DE4176-D60C-42C9-8D8D-0D8023FF8574}" srcOrd="1" destOrd="0" presId="urn:microsoft.com/office/officeart/2018/2/layout/IconVerticalSolidList"/>
    <dgm:cxn modelId="{4A6E10C8-76EE-40CB-AB04-C229BF36A4B8}" type="presParOf" srcId="{94A4BAA3-059D-4A54-9872-F78CB284AB10}" destId="{EA2669A1-EC43-4F16-9EFA-10D097B7A150}" srcOrd="2" destOrd="0" presId="urn:microsoft.com/office/officeart/2018/2/layout/IconVerticalSolidList"/>
    <dgm:cxn modelId="{BB000E15-31A5-479E-9C97-E7D063C27B5C}" type="presParOf" srcId="{94A4BAA3-059D-4A54-9872-F78CB284AB10}" destId="{58888A66-DD60-4187-B1D0-2A56532502C6}" srcOrd="3" destOrd="0" presId="urn:microsoft.com/office/officeart/2018/2/layout/IconVerticalSolidList"/>
    <dgm:cxn modelId="{F66766A1-B160-489C-B8E0-9D8CB7FC6BA8}" type="presParOf" srcId="{94A4BAA3-059D-4A54-9872-F78CB284AB10}" destId="{D6E7E078-C896-499D-8445-A0AC03EEC9F0}" srcOrd="4" destOrd="0" presId="urn:microsoft.com/office/officeart/2018/2/layout/IconVerticalSolidList"/>
    <dgm:cxn modelId="{DBC35E1C-2568-46D5-A9DA-6DD12A2D8AE8}" type="presParOf" srcId="{592B46F1-2AD7-4C76-8AE3-4D317C48D9D0}" destId="{84E81A56-DE43-461F-8FA8-DCEEB80030B5}" srcOrd="5" destOrd="0" presId="urn:microsoft.com/office/officeart/2018/2/layout/IconVerticalSolidList"/>
    <dgm:cxn modelId="{29CC7A14-0B3D-484B-A638-FD865B99F7E5}" type="presParOf" srcId="{592B46F1-2AD7-4C76-8AE3-4D317C48D9D0}" destId="{B6DBA82F-DACD-46B0-BEBE-D2A750B24974}" srcOrd="6" destOrd="0" presId="urn:microsoft.com/office/officeart/2018/2/layout/IconVerticalSolidList"/>
    <dgm:cxn modelId="{E430337B-1D8D-45F2-9996-FCFE140F98A4}" type="presParOf" srcId="{B6DBA82F-DACD-46B0-BEBE-D2A750B24974}" destId="{412B1705-70BC-45AC-950B-484A69401640}" srcOrd="0" destOrd="0" presId="urn:microsoft.com/office/officeart/2018/2/layout/IconVerticalSolidList"/>
    <dgm:cxn modelId="{4155EA8E-A078-47F0-942B-43CCF1E703F7}" type="presParOf" srcId="{B6DBA82F-DACD-46B0-BEBE-D2A750B24974}" destId="{D96597DE-2A3F-4F49-B4D5-53038B2C1614}" srcOrd="1" destOrd="0" presId="urn:microsoft.com/office/officeart/2018/2/layout/IconVerticalSolidList"/>
    <dgm:cxn modelId="{D14C177E-092A-49AC-A98E-B4EA62582394}" type="presParOf" srcId="{B6DBA82F-DACD-46B0-BEBE-D2A750B24974}" destId="{9B331F39-FAEF-45E4-BB1A-787F1EE322C1}" srcOrd="2" destOrd="0" presId="urn:microsoft.com/office/officeart/2018/2/layout/IconVerticalSolidList"/>
    <dgm:cxn modelId="{136ABF23-DCBC-4A92-8706-086AA70BD389}" type="presParOf" srcId="{B6DBA82F-DACD-46B0-BEBE-D2A750B24974}" destId="{C651D059-B8DF-479D-8CAD-4231FE79ECA2}" srcOrd="3" destOrd="0" presId="urn:microsoft.com/office/officeart/2018/2/layout/IconVerticalSolidList"/>
    <dgm:cxn modelId="{A27C9C48-9A6F-40C2-ABBB-D288564071BB}" type="presParOf" srcId="{B6DBA82F-DACD-46B0-BEBE-D2A750B24974}" destId="{3118EB4A-10AA-4170-8530-2626DDA4B9A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523AB8-AABE-4C26-ABFC-74D53AE13134}">
      <dsp:nvSpPr>
        <dsp:cNvPr id="0" name=""/>
        <dsp:cNvSpPr/>
      </dsp:nvSpPr>
      <dsp:spPr>
        <a:xfrm>
          <a:off x="0" y="4945"/>
          <a:ext cx="10744200" cy="11509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6BCDA2-FAE8-492F-9305-EFF422E6BC5F}">
      <dsp:nvSpPr>
        <dsp:cNvPr id="0" name=""/>
        <dsp:cNvSpPr/>
      </dsp:nvSpPr>
      <dsp:spPr>
        <a:xfrm>
          <a:off x="348160" y="263907"/>
          <a:ext cx="633019" cy="6330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CE1EA3-895C-4775-9C91-85E778C012B8}">
      <dsp:nvSpPr>
        <dsp:cNvPr id="0" name=""/>
        <dsp:cNvSpPr/>
      </dsp:nvSpPr>
      <dsp:spPr>
        <a:xfrm>
          <a:off x="1329340" y="4945"/>
          <a:ext cx="483489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977900">
            <a:lnSpc>
              <a:spcPct val="100000"/>
            </a:lnSpc>
            <a:spcBef>
              <a:spcPct val="0"/>
            </a:spcBef>
            <a:spcAft>
              <a:spcPct val="35000"/>
            </a:spcAft>
            <a:buNone/>
          </a:pPr>
          <a:r>
            <a:rPr lang="es-MX" sz="2200" kern="1200" dirty="0"/>
            <a:t>Normalización y estandarización de jugadoras de 8 diferentes ligas:</a:t>
          </a:r>
          <a:endParaRPr lang="en-US" sz="2200" kern="1200" dirty="0"/>
        </a:p>
      </dsp:txBody>
      <dsp:txXfrm>
        <a:off x="1329340" y="4945"/>
        <a:ext cx="4834890" cy="1150943"/>
      </dsp:txXfrm>
    </dsp:sp>
    <dsp:sp modelId="{F6E7FEEC-1AAD-4C05-8587-27C0E4243C38}">
      <dsp:nvSpPr>
        <dsp:cNvPr id="0" name=""/>
        <dsp:cNvSpPr/>
      </dsp:nvSpPr>
      <dsp:spPr>
        <a:xfrm>
          <a:off x="6164230" y="4945"/>
          <a:ext cx="457867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488950">
            <a:lnSpc>
              <a:spcPct val="100000"/>
            </a:lnSpc>
            <a:spcBef>
              <a:spcPct val="0"/>
            </a:spcBef>
            <a:spcAft>
              <a:spcPct val="35000"/>
            </a:spcAft>
            <a:buNone/>
          </a:pPr>
          <a:r>
            <a:rPr lang="es-MX" sz="1100" kern="1200"/>
            <a:t>Alemania, China, USA, Brasil, Colombia, España, Francia, Italia,</a:t>
          </a:r>
          <a:endParaRPr lang="en-US" sz="1100" kern="1200"/>
        </a:p>
      </dsp:txBody>
      <dsp:txXfrm>
        <a:off x="6164230" y="4945"/>
        <a:ext cx="4578670" cy="1150943"/>
      </dsp:txXfrm>
    </dsp:sp>
    <dsp:sp modelId="{5A372826-7C59-4BC8-9E9C-98E550CCC8C0}">
      <dsp:nvSpPr>
        <dsp:cNvPr id="0" name=""/>
        <dsp:cNvSpPr/>
      </dsp:nvSpPr>
      <dsp:spPr>
        <a:xfrm>
          <a:off x="0" y="1443625"/>
          <a:ext cx="10744200" cy="11509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63FC57-2361-41B7-820E-3E4AFF4EA763}">
      <dsp:nvSpPr>
        <dsp:cNvPr id="0" name=""/>
        <dsp:cNvSpPr/>
      </dsp:nvSpPr>
      <dsp:spPr>
        <a:xfrm>
          <a:off x="348160" y="1702587"/>
          <a:ext cx="633019" cy="6330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05A130-44DC-4A1A-96E9-E462EB34AD6C}">
      <dsp:nvSpPr>
        <dsp:cNvPr id="0" name=""/>
        <dsp:cNvSpPr/>
      </dsp:nvSpPr>
      <dsp:spPr>
        <a:xfrm>
          <a:off x="1329340" y="1443625"/>
          <a:ext cx="483489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977900">
            <a:lnSpc>
              <a:spcPct val="100000"/>
            </a:lnSpc>
            <a:spcBef>
              <a:spcPct val="0"/>
            </a:spcBef>
            <a:spcAft>
              <a:spcPct val="35000"/>
            </a:spcAft>
            <a:buNone/>
          </a:pPr>
          <a:r>
            <a:rPr lang="es-MX" sz="2200" kern="1200"/>
            <a:t>Scoring</a:t>
          </a:r>
          <a:endParaRPr lang="en-US" sz="2200" kern="1200"/>
        </a:p>
      </dsp:txBody>
      <dsp:txXfrm>
        <a:off x="1329340" y="1443625"/>
        <a:ext cx="4834890" cy="1150943"/>
      </dsp:txXfrm>
    </dsp:sp>
    <dsp:sp modelId="{2EB9DB99-1483-42BA-A3F0-6ABABA54D5C8}">
      <dsp:nvSpPr>
        <dsp:cNvPr id="0" name=""/>
        <dsp:cNvSpPr/>
      </dsp:nvSpPr>
      <dsp:spPr>
        <a:xfrm>
          <a:off x="6164230" y="1443625"/>
          <a:ext cx="457867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488950">
            <a:lnSpc>
              <a:spcPct val="100000"/>
            </a:lnSpc>
            <a:spcBef>
              <a:spcPct val="0"/>
            </a:spcBef>
            <a:spcAft>
              <a:spcPct val="35000"/>
            </a:spcAft>
            <a:buNone/>
          </a:pPr>
          <a:r>
            <a:rPr lang="es-MX" sz="1100" kern="1200" dirty="0"/>
            <a:t>Se realizaron 2 maneras para ver qué jugadora era mejor </a:t>
          </a:r>
          <a:r>
            <a:rPr lang="es-MX" sz="1100" kern="1200" dirty="0" err="1"/>
            <a:t>fit</a:t>
          </a:r>
          <a:r>
            <a:rPr lang="es-MX" sz="1100" kern="1200" dirty="0"/>
            <a:t> para el equipo, primero con z-score, sin embargo no era funcional para distribuciones no normales.</a:t>
          </a:r>
        </a:p>
        <a:p>
          <a:pPr marL="0" lvl="0" indent="0" algn="l" defTabSz="488950">
            <a:lnSpc>
              <a:spcPct val="100000"/>
            </a:lnSpc>
            <a:spcBef>
              <a:spcPct val="0"/>
            </a:spcBef>
            <a:spcAft>
              <a:spcPct val="35000"/>
            </a:spcAft>
            <a:buNone/>
          </a:pPr>
          <a:r>
            <a:rPr lang="en-US" sz="1100" kern="1200" dirty="0"/>
            <a:t>Se </a:t>
          </a:r>
          <a:r>
            <a:rPr lang="en-US" sz="1100" kern="1200" dirty="0" err="1"/>
            <a:t>calcularon</a:t>
          </a:r>
          <a:r>
            <a:rPr lang="en-US" sz="1100" kern="1200" dirty="0"/>
            <a:t> percentiles para </a:t>
          </a:r>
          <a:r>
            <a:rPr lang="en-US" sz="1100" kern="1200" dirty="0" err="1"/>
            <a:t>calcular</a:t>
          </a:r>
          <a:r>
            <a:rPr lang="en-US" sz="1100" kern="1200" dirty="0"/>
            <a:t> con </a:t>
          </a:r>
          <a:r>
            <a:rPr lang="en-US" sz="1100" kern="1200" dirty="0" err="1"/>
            <a:t>iguales</a:t>
          </a:r>
          <a:r>
            <a:rPr lang="en-US" sz="1100" kern="1200" dirty="0"/>
            <a:t>.</a:t>
          </a:r>
        </a:p>
        <a:p>
          <a:pPr marL="0" lvl="0" indent="0" algn="l" defTabSz="488950">
            <a:lnSpc>
              <a:spcPct val="100000"/>
            </a:lnSpc>
            <a:spcBef>
              <a:spcPct val="0"/>
            </a:spcBef>
            <a:spcAft>
              <a:spcPct val="35000"/>
            </a:spcAft>
            <a:buNone/>
          </a:pPr>
          <a:r>
            <a:rPr lang="es-MX" sz="1100" kern="1200" dirty="0"/>
            <a:t>Se construyó un índice compuesto con pesos por cada variable dependiendo de la posición.</a:t>
          </a:r>
          <a:endParaRPr lang="en-US" sz="1100" kern="1200" dirty="0"/>
        </a:p>
      </dsp:txBody>
      <dsp:txXfrm>
        <a:off x="6164230" y="1443625"/>
        <a:ext cx="4578670" cy="1150943"/>
      </dsp:txXfrm>
    </dsp:sp>
    <dsp:sp modelId="{1F126E89-EE60-4E59-9CF8-EB0D21661479}">
      <dsp:nvSpPr>
        <dsp:cNvPr id="0" name=""/>
        <dsp:cNvSpPr/>
      </dsp:nvSpPr>
      <dsp:spPr>
        <a:xfrm>
          <a:off x="0" y="2882304"/>
          <a:ext cx="10744200" cy="11509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DE4176-D60C-42C9-8D8D-0D8023FF8574}">
      <dsp:nvSpPr>
        <dsp:cNvPr id="0" name=""/>
        <dsp:cNvSpPr/>
      </dsp:nvSpPr>
      <dsp:spPr>
        <a:xfrm>
          <a:off x="348160" y="3141267"/>
          <a:ext cx="633019" cy="6330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888A66-DD60-4187-B1D0-2A56532502C6}">
      <dsp:nvSpPr>
        <dsp:cNvPr id="0" name=""/>
        <dsp:cNvSpPr/>
      </dsp:nvSpPr>
      <dsp:spPr>
        <a:xfrm>
          <a:off x="1329340" y="2882304"/>
          <a:ext cx="483489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977900">
            <a:lnSpc>
              <a:spcPct val="100000"/>
            </a:lnSpc>
            <a:spcBef>
              <a:spcPct val="0"/>
            </a:spcBef>
            <a:spcAft>
              <a:spcPct val="35000"/>
            </a:spcAft>
            <a:buNone/>
          </a:pPr>
          <a:r>
            <a:rPr lang="es-MX" sz="2200" kern="1200"/>
            <a:t>Métricas clave:</a:t>
          </a:r>
          <a:endParaRPr lang="en-US" sz="2200" kern="1200"/>
        </a:p>
      </dsp:txBody>
      <dsp:txXfrm>
        <a:off x="1329340" y="2882304"/>
        <a:ext cx="4834890" cy="1150943"/>
      </dsp:txXfrm>
    </dsp:sp>
    <dsp:sp modelId="{D6E7E078-C896-499D-8445-A0AC03EEC9F0}">
      <dsp:nvSpPr>
        <dsp:cNvPr id="0" name=""/>
        <dsp:cNvSpPr/>
      </dsp:nvSpPr>
      <dsp:spPr>
        <a:xfrm>
          <a:off x="6164230" y="2882304"/>
          <a:ext cx="457867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488950">
            <a:lnSpc>
              <a:spcPct val="100000"/>
            </a:lnSpc>
            <a:spcBef>
              <a:spcPct val="0"/>
            </a:spcBef>
            <a:spcAft>
              <a:spcPct val="35000"/>
            </a:spcAft>
            <a:buNone/>
          </a:pPr>
          <a:r>
            <a:rPr lang="es-MX" sz="1100" kern="1200"/>
            <a:t>CB: tackles/90, intercepciones/90, despejes/90, posesiones recuperadas/90, duelos aéreos ganados/90, precisión de pase, tarjetas/90.</a:t>
          </a:r>
          <a:endParaRPr lang="en-US" sz="1100" kern="1200"/>
        </a:p>
        <a:p>
          <a:pPr marL="0" lvl="0" indent="0" algn="l" defTabSz="488950">
            <a:lnSpc>
              <a:spcPct val="100000"/>
            </a:lnSpc>
            <a:spcBef>
              <a:spcPct val="0"/>
            </a:spcBef>
            <a:spcAft>
              <a:spcPct val="35000"/>
            </a:spcAft>
            <a:buNone/>
          </a:pPr>
          <a:r>
            <a:rPr lang="es-MX" sz="1100" kern="1200"/>
            <a:t>CF: goles/90, xG/90, tiros a puerta/90, tasa de conversión, pases clave/90, duelos aéreos ganados/90.</a:t>
          </a:r>
          <a:endParaRPr lang="en-US" sz="1100" kern="1200"/>
        </a:p>
        <a:p>
          <a:pPr marL="0" lvl="0" indent="0" algn="l" defTabSz="488950">
            <a:lnSpc>
              <a:spcPct val="100000"/>
            </a:lnSpc>
            <a:spcBef>
              <a:spcPct val="0"/>
            </a:spcBef>
            <a:spcAft>
              <a:spcPct val="35000"/>
            </a:spcAft>
            <a:buNone/>
          </a:pPr>
          <a:r>
            <a:rPr lang="es-MX" sz="1100" kern="1200" dirty="0"/>
            <a:t>Factor multiplicativo 0.2–1.2 según: dificultad del club/liga de origen.</a:t>
          </a:r>
          <a:endParaRPr lang="en-US" sz="1100" kern="1200" dirty="0"/>
        </a:p>
      </dsp:txBody>
      <dsp:txXfrm>
        <a:off x="6164230" y="2882304"/>
        <a:ext cx="4578670" cy="1150943"/>
      </dsp:txXfrm>
    </dsp:sp>
    <dsp:sp modelId="{412B1705-70BC-45AC-950B-484A69401640}">
      <dsp:nvSpPr>
        <dsp:cNvPr id="0" name=""/>
        <dsp:cNvSpPr/>
      </dsp:nvSpPr>
      <dsp:spPr>
        <a:xfrm>
          <a:off x="0" y="4320984"/>
          <a:ext cx="10744200" cy="11509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6597DE-2A3F-4F49-B4D5-53038B2C1614}">
      <dsp:nvSpPr>
        <dsp:cNvPr id="0" name=""/>
        <dsp:cNvSpPr/>
      </dsp:nvSpPr>
      <dsp:spPr>
        <a:xfrm>
          <a:off x="348160" y="4579947"/>
          <a:ext cx="633019" cy="6330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1D059-B8DF-479D-8CAD-4231FE79ECA2}">
      <dsp:nvSpPr>
        <dsp:cNvPr id="0" name=""/>
        <dsp:cNvSpPr/>
      </dsp:nvSpPr>
      <dsp:spPr>
        <a:xfrm>
          <a:off x="1329340" y="4320984"/>
          <a:ext cx="483489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977900">
            <a:lnSpc>
              <a:spcPct val="100000"/>
            </a:lnSpc>
            <a:spcBef>
              <a:spcPct val="0"/>
            </a:spcBef>
            <a:spcAft>
              <a:spcPct val="35000"/>
            </a:spcAft>
            <a:buNone/>
          </a:pPr>
          <a:r>
            <a:rPr lang="es-MX" sz="2200" kern="1200"/>
            <a:t>Filtros:</a:t>
          </a:r>
          <a:endParaRPr lang="en-US" sz="2200" kern="1200"/>
        </a:p>
      </dsp:txBody>
      <dsp:txXfrm>
        <a:off x="1329340" y="4320984"/>
        <a:ext cx="4834890" cy="1150943"/>
      </dsp:txXfrm>
    </dsp:sp>
    <dsp:sp modelId="{3118EB4A-10AA-4170-8530-2626DDA4B9A2}">
      <dsp:nvSpPr>
        <dsp:cNvPr id="0" name=""/>
        <dsp:cNvSpPr/>
      </dsp:nvSpPr>
      <dsp:spPr>
        <a:xfrm>
          <a:off x="6164230" y="4320984"/>
          <a:ext cx="4578670" cy="11509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808" tIns="121808" rIns="121808" bIns="121808" numCol="1" spcCol="1270" anchor="ctr" anchorCtr="0">
          <a:noAutofit/>
        </a:bodyPr>
        <a:lstStyle/>
        <a:p>
          <a:pPr marL="0" lvl="0" indent="0" algn="l" defTabSz="488950">
            <a:lnSpc>
              <a:spcPct val="100000"/>
            </a:lnSpc>
            <a:spcBef>
              <a:spcPct val="0"/>
            </a:spcBef>
            <a:spcAft>
              <a:spcPct val="35000"/>
            </a:spcAft>
            <a:buNone/>
          </a:pPr>
          <a:r>
            <a:rPr lang="es-MX" sz="1100" kern="1200" dirty="0"/>
            <a:t>Edad</a:t>
          </a:r>
        </a:p>
        <a:p>
          <a:pPr marL="0" lvl="0" indent="0" algn="l" defTabSz="488950">
            <a:lnSpc>
              <a:spcPct val="100000"/>
            </a:lnSpc>
            <a:spcBef>
              <a:spcPct val="0"/>
            </a:spcBef>
            <a:spcAft>
              <a:spcPct val="35000"/>
            </a:spcAft>
            <a:buNone/>
          </a:pPr>
          <a:r>
            <a:rPr lang="es-MX" sz="1100" kern="1200" dirty="0"/>
            <a:t>No jugar en la liga MX</a:t>
          </a:r>
          <a:endParaRPr lang="en-US" sz="1100" kern="1200" dirty="0"/>
        </a:p>
      </dsp:txBody>
      <dsp:txXfrm>
        <a:off x="6164230" y="4320984"/>
        <a:ext cx="4578670" cy="11509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C1E4C8C-CB2D-42C7-AEA7-47BCC2A8D1D9}" type="datetimeFigureOut">
              <a:rPr lang="es-MX" smtClean="0"/>
              <a:t>08/09/2025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2976780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C1E4C8C-CB2D-42C7-AEA7-47BCC2A8D1D9}" type="datetimeFigureOut">
              <a:rPr lang="es-MX" smtClean="0"/>
              <a:t>08/09/2025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4146927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C1E4C8C-CB2D-42C7-AEA7-47BCC2A8D1D9}" type="datetimeFigureOut">
              <a:rPr lang="es-MX" smtClean="0"/>
              <a:t>08/09/2025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289629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C1E4C8C-CB2D-42C7-AEA7-47BCC2A8D1D9}" type="datetimeFigureOut">
              <a:rPr lang="es-MX" smtClean="0"/>
              <a:t>08/09/2025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2348614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C1E4C8C-CB2D-42C7-AEA7-47BCC2A8D1D9}" type="datetimeFigureOut">
              <a:rPr lang="es-MX" smtClean="0"/>
              <a:t>08/09/2025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3894705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C1E4C8C-CB2D-42C7-AEA7-47BCC2A8D1D9}" type="datetimeFigureOut">
              <a:rPr lang="es-MX" smtClean="0"/>
              <a:t>08/09/2025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650520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1E4C8C-CB2D-42C7-AEA7-47BCC2A8D1D9}" type="datetimeFigureOut">
              <a:rPr lang="es-MX" smtClean="0"/>
              <a:t>08/09/2025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436102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C1E4C8C-CB2D-42C7-AEA7-47BCC2A8D1D9}" type="datetimeFigureOut">
              <a:rPr lang="es-MX" smtClean="0"/>
              <a:t>08/09/2025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1521180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C1E4C8C-CB2D-42C7-AEA7-47BCC2A8D1D9}" type="datetimeFigureOut">
              <a:rPr lang="es-MX" smtClean="0"/>
              <a:t>08/09/2025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3800412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C1E4C8C-CB2D-42C7-AEA7-47BCC2A8D1D9}" type="datetimeFigureOut">
              <a:rPr lang="es-MX" smtClean="0"/>
              <a:t>08/09/2025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385383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C1E4C8C-CB2D-42C7-AEA7-47BCC2A8D1D9}" type="datetimeFigureOut">
              <a:rPr lang="es-MX" smtClean="0"/>
              <a:t>08/09/2025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90E7FE0-4B59-43E0-B511-AE2FD77D9BBA}" type="slidenum">
              <a:rPr lang="es-MX" smtClean="0"/>
              <a:t>‹Nº›</a:t>
            </a:fld>
            <a:endParaRPr lang="es-MX"/>
          </a:p>
        </p:txBody>
      </p:sp>
    </p:spTree>
    <p:extLst>
      <p:ext uri="{BB962C8B-B14F-4D97-AF65-F5344CB8AC3E}">
        <p14:creationId xmlns:p14="http://schemas.microsoft.com/office/powerpoint/2010/main" val="751593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1E4C8C-CB2D-42C7-AEA7-47BCC2A8D1D9}" type="datetimeFigureOut">
              <a:rPr lang="es-MX" smtClean="0"/>
              <a:t>08/09/2025</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0E7FE0-4B59-43E0-B511-AE2FD77D9BBA}" type="slidenum">
              <a:rPr lang="es-MX" smtClean="0"/>
              <a:t>‹Nº›</a:t>
            </a:fld>
            <a:endParaRPr lang="es-MX"/>
          </a:p>
        </p:txBody>
      </p:sp>
    </p:spTree>
    <p:extLst>
      <p:ext uri="{BB962C8B-B14F-4D97-AF65-F5344CB8AC3E}">
        <p14:creationId xmlns:p14="http://schemas.microsoft.com/office/powerpoint/2010/main" val="4261163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8.jf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mabelation/America-Femenil-Scout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9">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A7B77AE-A38E-4A35-805A-FC2FC251EDB2}"/>
              </a:ext>
            </a:extLst>
          </p:cNvPr>
          <p:cNvSpPr>
            <a:spLocks noGrp="1"/>
          </p:cNvSpPr>
          <p:nvPr>
            <p:ph type="ctrTitle"/>
          </p:nvPr>
        </p:nvSpPr>
        <p:spPr>
          <a:xfrm>
            <a:off x="7331384" y="679730"/>
            <a:ext cx="4171994" cy="3932729"/>
          </a:xfrm>
        </p:spPr>
        <p:txBody>
          <a:bodyPr>
            <a:normAutofit/>
          </a:bodyPr>
          <a:lstStyle/>
          <a:p>
            <a:pPr algn="l"/>
            <a:r>
              <a:rPr lang="es-MX"/>
              <a:t>Scouting Analysis</a:t>
            </a:r>
          </a:p>
        </p:txBody>
      </p:sp>
      <p:grpSp>
        <p:nvGrpSpPr>
          <p:cNvPr id="22" name="Group 11">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23" name="Straight Connector 12">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Subtítulo 2">
            <a:extLst>
              <a:ext uri="{FF2B5EF4-FFF2-40B4-BE49-F238E27FC236}">
                <a16:creationId xmlns:a16="http://schemas.microsoft.com/office/drawing/2014/main" id="{39815BD3-2D78-4E32-BDD4-18ED8251048E}"/>
              </a:ext>
            </a:extLst>
          </p:cNvPr>
          <p:cNvSpPr>
            <a:spLocks noGrp="1"/>
          </p:cNvSpPr>
          <p:nvPr>
            <p:ph type="subTitle" idx="1"/>
          </p:nvPr>
        </p:nvSpPr>
        <p:spPr>
          <a:xfrm>
            <a:off x="7331383" y="5227455"/>
            <a:ext cx="3876085" cy="857461"/>
          </a:xfrm>
        </p:spPr>
        <p:txBody>
          <a:bodyPr>
            <a:normAutofit/>
          </a:bodyPr>
          <a:lstStyle/>
          <a:p>
            <a:pPr algn="l"/>
            <a:r>
              <a:rPr lang="es-MX"/>
              <a:t>América Femenil</a:t>
            </a:r>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Logotipo, Icono&#10;&#10;Descripción generada automáticamente">
            <a:extLst>
              <a:ext uri="{FF2B5EF4-FFF2-40B4-BE49-F238E27FC236}">
                <a16:creationId xmlns:a16="http://schemas.microsoft.com/office/drawing/2014/main" id="{F2491B70-8F09-4F79-9D9B-5EAFDC649C4D}"/>
              </a:ext>
            </a:extLst>
          </p:cNvPr>
          <p:cNvPicPr>
            <a:picLocks noChangeAspect="1"/>
          </p:cNvPicPr>
          <p:nvPr/>
        </p:nvPicPr>
        <p:blipFill>
          <a:blip r:embed="rId2">
            <a:extLst>
              <a:ext uri="{28A0092B-C50C-407E-A947-70E740481C1C}">
                <a14:useLocalDpi xmlns:a14="http://schemas.microsoft.com/office/drawing/2010/main" val="0"/>
              </a:ext>
            </a:extLst>
          </a:blip>
          <a:srcRect b="1268"/>
          <a:stretch>
            <a:fillRect/>
          </a:stretch>
        </p:blipFill>
        <p:spPr>
          <a:xfrm>
            <a:off x="942597" y="660145"/>
            <a:ext cx="5608830" cy="5537709"/>
          </a:xfrm>
          <a:prstGeom prst="rect">
            <a:avLst/>
          </a:prstGeom>
        </p:spPr>
      </p:pic>
    </p:spTree>
    <p:extLst>
      <p:ext uri="{BB962C8B-B14F-4D97-AF65-F5344CB8AC3E}">
        <p14:creationId xmlns:p14="http://schemas.microsoft.com/office/powerpoint/2010/main" val="212685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CCF3D10-3B7E-4761-A0BA-8F40A6B40D2A}"/>
              </a:ext>
            </a:extLst>
          </p:cNvPr>
          <p:cNvSpPr>
            <a:spLocks noGrp="1"/>
          </p:cNvSpPr>
          <p:nvPr>
            <p:ph type="title"/>
          </p:nvPr>
        </p:nvSpPr>
        <p:spPr>
          <a:xfrm>
            <a:off x="793662" y="386930"/>
            <a:ext cx="10066122" cy="1298448"/>
          </a:xfrm>
        </p:spPr>
        <p:txBody>
          <a:bodyPr anchor="b">
            <a:normAutofit/>
          </a:bodyPr>
          <a:lstStyle/>
          <a:p>
            <a:r>
              <a:rPr lang="es-MX" sz="4800"/>
              <a:t>Introducción</a:t>
            </a:r>
          </a:p>
        </p:txBody>
      </p:sp>
      <p:sp>
        <p:nvSpPr>
          <p:cNvPr id="24" name="Rectangle 2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FB15B12-F4FB-4518-8FAD-99BED51DAF81}"/>
              </a:ext>
            </a:extLst>
          </p:cNvPr>
          <p:cNvSpPr>
            <a:spLocks noGrp="1"/>
          </p:cNvSpPr>
          <p:nvPr>
            <p:ph idx="1"/>
          </p:nvPr>
        </p:nvSpPr>
        <p:spPr>
          <a:xfrm>
            <a:off x="793661" y="2599509"/>
            <a:ext cx="4530898" cy="3639450"/>
          </a:xfrm>
        </p:spPr>
        <p:txBody>
          <a:bodyPr anchor="ctr">
            <a:normAutofit/>
          </a:bodyPr>
          <a:lstStyle/>
          <a:p>
            <a:pPr marL="0" indent="0">
              <a:buNone/>
            </a:pPr>
            <a:r>
              <a:rPr lang="es-MX" sz="1400"/>
              <a:t>Club América Femenil se ha posicionado rápidamente como uno de los equipos más influyentes y exitosos de México. El equipo, con sede en la Ciudad de México, juega en el icónico Estadio Azteca, compartiendo la misma casa que el equipo masculino.</a:t>
            </a:r>
          </a:p>
          <a:p>
            <a:pPr marL="0" indent="0">
              <a:buNone/>
            </a:pPr>
            <a:r>
              <a:rPr lang="es-MX" sz="1400"/>
              <a:t>Desde su creación, las Águilas han demostrado ser un equipo competitivo y protagonista, logrando su primer título de liga en el Torneo Apertura 2018. Su éxito en el campo, junto con una fuerte presencia en redes sociales y una base de aficionados apasionada, ha consolidado su estatus como un gigante del fútbol femenino en México.</a:t>
            </a:r>
          </a:p>
          <a:p>
            <a:pPr marL="0" indent="0">
              <a:buNone/>
            </a:pPr>
            <a:r>
              <a:rPr lang="es-MX" sz="1400"/>
              <a:t>Conocido por su enfoque táctico y una mezcla de talento nacional e internacional, el equipo se ha consolidado como un contendiente constante. Con una edad promedio de 22.1 años, el equipo prioriza el desarrollo de talento joven y la adaptación a un estilo de juego dinámico y moderno.</a:t>
            </a:r>
          </a:p>
        </p:txBody>
      </p:sp>
      <p:pic>
        <p:nvPicPr>
          <p:cNvPr id="5" name="Imagen 4" descr="Un jugador de fútbol con espectadores&#10;&#10;Descripción generada automáticamente con confianza media">
            <a:extLst>
              <a:ext uri="{FF2B5EF4-FFF2-40B4-BE49-F238E27FC236}">
                <a16:creationId xmlns:a16="http://schemas.microsoft.com/office/drawing/2014/main" id="{47CC47E5-0567-4843-8220-16EEA1B32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2899299"/>
            <a:ext cx="5150277" cy="2884155"/>
          </a:xfrm>
          <a:prstGeom prst="rect">
            <a:avLst/>
          </a:prstGeom>
        </p:spPr>
      </p:pic>
      <p:sp>
        <p:nvSpPr>
          <p:cNvPr id="28" name="Rectangle 2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7313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644E76-87C1-4754-8246-B4C1171273C6}"/>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4000"/>
              <a:t>Estilo de juego</a:t>
            </a:r>
          </a:p>
        </p:txBody>
      </p:sp>
      <p:grpSp>
        <p:nvGrpSpPr>
          <p:cNvPr id="26" name="Group 2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7" name="Rectangle 2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55EEBFB7-8180-470D-8876-916896A60AB0}"/>
              </a:ext>
            </a:extLst>
          </p:cNvPr>
          <p:cNvSpPr txBox="1"/>
          <p:nvPr/>
        </p:nvSpPr>
        <p:spPr>
          <a:xfrm>
            <a:off x="590719" y="2330505"/>
            <a:ext cx="5278066"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100"/>
              <a:t>Estilo Ofensivo (APP vs. Ataques Posicionales):- América Femenil implementa un estilo de juego distintivo que se centra en una circulación efectiva y fluida del balón, acompañado de construcciones tácticas elaboradas que reflejan un enfoque estratégico bien definido. Por lo tanto, los atacantes deben destacarse no solo por su capacidad de apoyo constante a los compañeros, sino también por su elevada movilidad en el campo y su habilidad para finalizar con precisión en espacios reducidos, donde la creatividad y la toma de decisiones rápidas resultan esenciales.- Este enfoque táctico está diseñado para mantener el control del juego y evitar que los rivales replieguen su defensa de manera efectiva frente a la posesión del balón, asegurando así una mayor dominancia en el desarrollo de las jugadas ofensivas.</a:t>
            </a:r>
          </a:p>
          <a:p>
            <a:pPr indent="-228600" defTabSz="914400">
              <a:lnSpc>
                <a:spcPct val="90000"/>
              </a:lnSpc>
              <a:spcAft>
                <a:spcPts val="600"/>
              </a:spcAft>
              <a:buFont typeface="Arial" panose="020B0604020202020204" pitchFamily="34" charset="0"/>
              <a:buChar char="•"/>
            </a:pPr>
            <a:r>
              <a:rPr lang="en-US" sz="1100"/>
              <a:t>Estilo Defensivo (Ratios de Recuperación vs. PPDA):- El equipo emplea un PPDA bajo, lo que denota una estrategia de presión alta implementada desde el inicio de las acciones, aunque esta se complementa con un ratio de recuperaciones de balón que se mantiene en un nivel moderado, reflejando un equilibrio entre intensidad y control.- A pesar de la presión alta ejercida sobre el rival, la recuperación de la posesión no se caracteriza por una frecuencia elevada, lo que implica que los defensores centrales deben poseer una sólida fortaleza tanto en su posicionamiento táctico como en su desempeño en duelos aéreos, siendo estos aspectos fundamentales para garantizar la estabilidad defensiva y contrarrestar las amenazas adversarias de manera efectiva.</a:t>
            </a:r>
          </a:p>
        </p:txBody>
      </p:sp>
      <p:sp>
        <p:nvSpPr>
          <p:cNvPr id="32" name="Rectangle 3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Diagrama&#10;&#10;Descripción generada automáticamente">
            <a:extLst>
              <a:ext uri="{FF2B5EF4-FFF2-40B4-BE49-F238E27FC236}">
                <a16:creationId xmlns:a16="http://schemas.microsoft.com/office/drawing/2014/main" id="{749A9A85-B1AE-4D25-8494-10E828332E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3177" y="581892"/>
            <a:ext cx="4197925" cy="2518756"/>
          </a:xfrm>
          <a:prstGeom prst="rect">
            <a:avLst/>
          </a:prstGeom>
        </p:spPr>
      </p:pic>
      <p:sp>
        <p:nvSpPr>
          <p:cNvPr id="36" name="Rectangle 35">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Gráfico&#10;&#10;Descripción generada automáticamente con confianza baja">
            <a:extLst>
              <a:ext uri="{FF2B5EF4-FFF2-40B4-BE49-F238E27FC236}">
                <a16:creationId xmlns:a16="http://schemas.microsoft.com/office/drawing/2014/main" id="{8F73D4DC-E9BE-4749-B9AE-4A5D7E3672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182245" y="3707894"/>
            <a:ext cx="4197925" cy="2518756"/>
          </a:xfrm>
          <a:prstGeom prst="rect">
            <a:avLst/>
          </a:prstGeom>
        </p:spPr>
      </p:pic>
    </p:spTree>
    <p:extLst>
      <p:ext uri="{BB962C8B-B14F-4D97-AF65-F5344CB8AC3E}">
        <p14:creationId xmlns:p14="http://schemas.microsoft.com/office/powerpoint/2010/main" val="4151602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BF7AAE4-C888-45DA-ACCB-E4357DA336A2}"/>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600" kern="1200">
                <a:solidFill>
                  <a:schemeClr val="tx1"/>
                </a:solidFill>
                <a:latin typeface="+mj-lt"/>
                <a:ea typeface="+mj-ea"/>
                <a:cs typeface="+mj-cs"/>
              </a:rPr>
              <a:t>Diagnóstico América Femenil</a:t>
            </a:r>
          </a:p>
        </p:txBody>
      </p:sp>
      <p:sp>
        <p:nvSpPr>
          <p:cNvPr id="50" name="Rectangle 4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EEB338CA-E1DA-4C12-8BE1-4BFFA676679F}"/>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defTabSz="914400">
              <a:lnSpc>
                <a:spcPct val="90000"/>
              </a:lnSpc>
              <a:spcBef>
                <a:spcPts val="1000"/>
              </a:spcBef>
              <a:buFont typeface="Arial" panose="020B0604020202020204" pitchFamily="34" charset="0"/>
              <a:buChar char="•"/>
            </a:pPr>
            <a:r>
              <a:rPr lang="en-US" dirty="0"/>
              <a:t>América es un </a:t>
            </a:r>
            <a:r>
              <a:rPr lang="en-US"/>
              <a:t>equipo</a:t>
            </a:r>
            <a:r>
              <a:rPr lang="en-US" dirty="0"/>
              <a:t> </a:t>
            </a:r>
            <a:r>
              <a:rPr lang="en-US"/>
              <a:t>dominante</a:t>
            </a:r>
            <a:r>
              <a:rPr lang="en-US" dirty="0"/>
              <a:t> </a:t>
            </a:r>
            <a:r>
              <a:rPr lang="en-US"/>
              <a:t>en</a:t>
            </a:r>
            <a:r>
              <a:rPr lang="en-US" dirty="0"/>
              <a:t> </a:t>
            </a:r>
            <a:r>
              <a:rPr lang="en-US"/>
              <a:t>posesión</a:t>
            </a:r>
            <a:r>
              <a:rPr lang="en-US" dirty="0"/>
              <a:t> y con un gran volume </a:t>
            </a:r>
            <a:r>
              <a:rPr lang="en-US"/>
              <a:t>ofensivo</a:t>
            </a:r>
            <a:r>
              <a:rPr lang="en-US" dirty="0"/>
              <a:t>, con mayor </a:t>
            </a:r>
            <a:r>
              <a:rPr lang="en-US"/>
              <a:t>solidez</a:t>
            </a:r>
            <a:r>
              <a:rPr lang="en-US" dirty="0"/>
              <a:t> defensive con respect al </a:t>
            </a:r>
            <a:r>
              <a:rPr lang="en-US"/>
              <a:t>promedio</a:t>
            </a:r>
            <a:r>
              <a:rPr lang="en-US" dirty="0"/>
              <a:t> y genera una gran </a:t>
            </a:r>
            <a:r>
              <a:rPr lang="en-US"/>
              <a:t>cantidad</a:t>
            </a:r>
            <a:r>
              <a:rPr lang="en-US" dirty="0"/>
              <a:t> de </a:t>
            </a:r>
            <a:r>
              <a:rPr lang="en-US"/>
              <a:t>tiros</a:t>
            </a:r>
            <a:r>
              <a:rPr lang="en-US" dirty="0"/>
              <a:t>.</a:t>
            </a:r>
            <a:endParaRPr lang="en-US"/>
          </a:p>
          <a:p>
            <a:pPr indent="-228600" defTabSz="914400">
              <a:lnSpc>
                <a:spcPct val="90000"/>
              </a:lnSpc>
              <a:spcBef>
                <a:spcPts val="1000"/>
              </a:spcBef>
              <a:buFont typeface="Arial" panose="020B0604020202020204" pitchFamily="34" charset="0"/>
              <a:buChar char="•"/>
            </a:pPr>
            <a:r>
              <a:rPr lang="en-US"/>
              <a:t>Área</a:t>
            </a:r>
            <a:r>
              <a:rPr lang="en-US" dirty="0"/>
              <a:t> de </a:t>
            </a:r>
            <a:r>
              <a:rPr lang="en-US"/>
              <a:t>mejora</a:t>
            </a:r>
            <a:r>
              <a:rPr lang="en-US" dirty="0"/>
              <a:t> </a:t>
            </a:r>
            <a:r>
              <a:rPr lang="en-US"/>
              <a:t>en</a:t>
            </a:r>
            <a:r>
              <a:rPr lang="en-US" dirty="0"/>
              <a:t> la </a:t>
            </a:r>
            <a:r>
              <a:rPr lang="en-US"/>
              <a:t>efectividad</a:t>
            </a:r>
            <a:r>
              <a:rPr lang="en-US" dirty="0"/>
              <a:t> de </a:t>
            </a:r>
            <a:r>
              <a:rPr lang="en-US"/>
              <a:t>definición</a:t>
            </a:r>
            <a:r>
              <a:rPr lang="en-US" dirty="0"/>
              <a:t> y </a:t>
            </a:r>
            <a:r>
              <a:rPr lang="en-US"/>
              <a:t>recuperación</a:t>
            </a:r>
            <a:r>
              <a:rPr lang="en-US" dirty="0"/>
              <a:t> </a:t>
            </a:r>
            <a:r>
              <a:rPr lang="en-US"/>
              <a:t>en</a:t>
            </a:r>
            <a:r>
              <a:rPr lang="en-US" dirty="0"/>
              <a:t> las </a:t>
            </a:r>
            <a:r>
              <a:rPr lang="en-US"/>
              <a:t>primeras</a:t>
            </a:r>
            <a:r>
              <a:rPr lang="en-US" dirty="0"/>
              <a:t> </a:t>
            </a:r>
            <a:r>
              <a:rPr lang="en-US"/>
              <a:t>líneas</a:t>
            </a:r>
            <a:r>
              <a:rPr lang="en-US" dirty="0"/>
              <a:t> </a:t>
            </a:r>
            <a:r>
              <a:rPr lang="en-US"/>
              <a:t>defensivas</a:t>
            </a:r>
            <a:r>
              <a:rPr lang="en-US" dirty="0"/>
              <a:t> para no </a:t>
            </a:r>
            <a:r>
              <a:rPr lang="en-US"/>
              <a:t>dejar</a:t>
            </a:r>
            <a:r>
              <a:rPr lang="en-US" dirty="0"/>
              <a:t> </a:t>
            </a:r>
            <a:r>
              <a:rPr lang="en-US"/>
              <a:t>expuestas</a:t>
            </a:r>
            <a:r>
              <a:rPr lang="en-US" dirty="0"/>
              <a:t> a las </a:t>
            </a:r>
            <a:r>
              <a:rPr lang="en-US"/>
              <a:t>centrales</a:t>
            </a:r>
            <a:r>
              <a:rPr lang="en-US" dirty="0"/>
              <a:t>. </a:t>
            </a:r>
            <a:endParaRPr lang="en-US"/>
          </a:p>
        </p:txBody>
      </p:sp>
      <p:sp>
        <p:nvSpPr>
          <p:cNvPr id="52" name="Rectangle 5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FB42A60D-1E1B-4362-AFFC-56BB6FA77E53}"/>
              </a:ext>
            </a:extLst>
          </p:cNvPr>
          <p:cNvPicPr>
            <a:picLocks noChangeAspect="1"/>
          </p:cNvPicPr>
          <p:nvPr/>
        </p:nvPicPr>
        <p:blipFill>
          <a:blip r:embed="rId2"/>
          <a:stretch>
            <a:fillRect/>
          </a:stretch>
        </p:blipFill>
        <p:spPr>
          <a:xfrm>
            <a:off x="5987738" y="1856316"/>
            <a:ext cx="5628018" cy="2912498"/>
          </a:xfrm>
          <a:prstGeom prst="rect">
            <a:avLst/>
          </a:prstGeom>
        </p:spPr>
      </p:pic>
    </p:spTree>
    <p:extLst>
      <p:ext uri="{BB962C8B-B14F-4D97-AF65-F5344CB8AC3E}">
        <p14:creationId xmlns:p14="http://schemas.microsoft.com/office/powerpoint/2010/main" val="2240287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DA4D3B-0DB9-4C0C-9FB9-20C15CB337BE}"/>
              </a:ext>
            </a:extLst>
          </p:cNvPr>
          <p:cNvSpPr>
            <a:spLocks noGrp="1"/>
          </p:cNvSpPr>
          <p:nvPr>
            <p:ph type="title"/>
          </p:nvPr>
        </p:nvSpPr>
        <p:spPr/>
        <p:txBody>
          <a:bodyPr/>
          <a:lstStyle/>
          <a:p>
            <a:r>
              <a:rPr lang="es-MX" dirty="0"/>
              <a:t>FODA</a:t>
            </a:r>
          </a:p>
        </p:txBody>
      </p:sp>
      <p:sp>
        <p:nvSpPr>
          <p:cNvPr id="4" name="CuadroTexto 3">
            <a:extLst>
              <a:ext uri="{FF2B5EF4-FFF2-40B4-BE49-F238E27FC236}">
                <a16:creationId xmlns:a16="http://schemas.microsoft.com/office/drawing/2014/main" id="{0F3B77A8-2425-4D68-84CE-6995F6E1183F}"/>
              </a:ext>
            </a:extLst>
          </p:cNvPr>
          <p:cNvSpPr txBox="1"/>
          <p:nvPr/>
        </p:nvSpPr>
        <p:spPr>
          <a:xfrm>
            <a:off x="981075" y="1690688"/>
            <a:ext cx="4581525" cy="1477328"/>
          </a:xfrm>
          <a:prstGeom prst="rect">
            <a:avLst/>
          </a:prstGeom>
          <a:solidFill>
            <a:srgbClr val="FFFF00"/>
          </a:solidFill>
        </p:spPr>
        <p:txBody>
          <a:bodyPr wrap="square" rtlCol="0">
            <a:spAutoFit/>
          </a:bodyPr>
          <a:lstStyle/>
          <a:p>
            <a:r>
              <a:rPr lang="es-MX" dirty="0"/>
              <a:t>Fortalezas</a:t>
            </a:r>
          </a:p>
          <a:p>
            <a:endParaRPr lang="es-MX" dirty="0"/>
          </a:p>
          <a:p>
            <a:r>
              <a:rPr lang="es-MX" dirty="0"/>
              <a:t>Posesión alta.</a:t>
            </a:r>
          </a:p>
          <a:p>
            <a:r>
              <a:rPr lang="es-MX" dirty="0"/>
              <a:t>Generación ofensiva.</a:t>
            </a:r>
          </a:p>
          <a:p>
            <a:r>
              <a:rPr lang="es-MX" dirty="0"/>
              <a:t>Consistencia en resultados</a:t>
            </a:r>
          </a:p>
        </p:txBody>
      </p:sp>
      <p:sp>
        <p:nvSpPr>
          <p:cNvPr id="5" name="CuadroTexto 4">
            <a:extLst>
              <a:ext uri="{FF2B5EF4-FFF2-40B4-BE49-F238E27FC236}">
                <a16:creationId xmlns:a16="http://schemas.microsoft.com/office/drawing/2014/main" id="{4AB03148-687D-4EB3-8BD3-A1018CA5892F}"/>
              </a:ext>
            </a:extLst>
          </p:cNvPr>
          <p:cNvSpPr txBox="1"/>
          <p:nvPr/>
        </p:nvSpPr>
        <p:spPr>
          <a:xfrm>
            <a:off x="5705475" y="1658422"/>
            <a:ext cx="4581525" cy="1477328"/>
          </a:xfrm>
          <a:prstGeom prst="rect">
            <a:avLst/>
          </a:prstGeom>
          <a:solidFill>
            <a:schemeClr val="accent1">
              <a:lumMod val="75000"/>
            </a:schemeClr>
          </a:solidFill>
        </p:spPr>
        <p:txBody>
          <a:bodyPr wrap="square" rtlCol="0">
            <a:spAutoFit/>
          </a:bodyPr>
          <a:lstStyle/>
          <a:p>
            <a:r>
              <a:rPr lang="es-MX" dirty="0">
                <a:solidFill>
                  <a:schemeClr val="bg1"/>
                </a:solidFill>
              </a:rPr>
              <a:t>Oportunidades</a:t>
            </a:r>
          </a:p>
          <a:p>
            <a:endParaRPr lang="es-MX" dirty="0">
              <a:solidFill>
                <a:schemeClr val="bg1"/>
              </a:solidFill>
            </a:endParaRPr>
          </a:p>
          <a:p>
            <a:r>
              <a:rPr lang="es-MX" dirty="0">
                <a:solidFill>
                  <a:schemeClr val="bg1"/>
                </a:solidFill>
              </a:rPr>
              <a:t>Mayor contundencia</a:t>
            </a:r>
          </a:p>
          <a:p>
            <a:r>
              <a:rPr lang="es-MX" dirty="0">
                <a:solidFill>
                  <a:schemeClr val="bg1"/>
                </a:solidFill>
              </a:rPr>
              <a:t>Generar más ataques posicionales</a:t>
            </a:r>
          </a:p>
          <a:p>
            <a:r>
              <a:rPr lang="es-MX" dirty="0">
                <a:solidFill>
                  <a:schemeClr val="bg1"/>
                </a:solidFill>
              </a:rPr>
              <a:t>Recuperación en zona alta y media.</a:t>
            </a:r>
          </a:p>
        </p:txBody>
      </p:sp>
      <p:sp>
        <p:nvSpPr>
          <p:cNvPr id="6" name="CuadroTexto 5">
            <a:extLst>
              <a:ext uri="{FF2B5EF4-FFF2-40B4-BE49-F238E27FC236}">
                <a16:creationId xmlns:a16="http://schemas.microsoft.com/office/drawing/2014/main" id="{131121D6-7833-4590-9293-D01DAE88C248}"/>
              </a:ext>
            </a:extLst>
          </p:cNvPr>
          <p:cNvSpPr txBox="1"/>
          <p:nvPr/>
        </p:nvSpPr>
        <p:spPr>
          <a:xfrm>
            <a:off x="981075" y="4258747"/>
            <a:ext cx="4581525" cy="1477328"/>
          </a:xfrm>
          <a:prstGeom prst="rect">
            <a:avLst/>
          </a:prstGeom>
          <a:solidFill>
            <a:srgbClr val="FF0000"/>
          </a:solidFill>
        </p:spPr>
        <p:txBody>
          <a:bodyPr wrap="square" rtlCol="0">
            <a:spAutoFit/>
          </a:bodyPr>
          <a:lstStyle/>
          <a:p>
            <a:r>
              <a:rPr lang="es-MX" dirty="0"/>
              <a:t>Debilidades</a:t>
            </a:r>
          </a:p>
          <a:p>
            <a:endParaRPr lang="es-MX" dirty="0"/>
          </a:p>
          <a:p>
            <a:r>
              <a:rPr lang="es-MX" dirty="0"/>
              <a:t>Eficiencia en la definición</a:t>
            </a:r>
          </a:p>
          <a:p>
            <a:r>
              <a:rPr lang="es-MX" dirty="0"/>
              <a:t>Poca rotación en varias posiciones</a:t>
            </a:r>
          </a:p>
          <a:p>
            <a:r>
              <a:rPr lang="es-MX" dirty="0"/>
              <a:t>Plantel con poca experiencia en banca.</a:t>
            </a:r>
          </a:p>
        </p:txBody>
      </p:sp>
      <p:sp>
        <p:nvSpPr>
          <p:cNvPr id="7" name="CuadroTexto 6">
            <a:extLst>
              <a:ext uri="{FF2B5EF4-FFF2-40B4-BE49-F238E27FC236}">
                <a16:creationId xmlns:a16="http://schemas.microsoft.com/office/drawing/2014/main" id="{8675EC4A-4427-4B08-8CAF-602A2F1F41C7}"/>
              </a:ext>
            </a:extLst>
          </p:cNvPr>
          <p:cNvSpPr txBox="1"/>
          <p:nvPr/>
        </p:nvSpPr>
        <p:spPr>
          <a:xfrm>
            <a:off x="5634318" y="4258747"/>
            <a:ext cx="4581525" cy="1477328"/>
          </a:xfrm>
          <a:prstGeom prst="rect">
            <a:avLst/>
          </a:prstGeom>
          <a:solidFill>
            <a:schemeClr val="tx1">
              <a:lumMod val="85000"/>
              <a:lumOff val="15000"/>
            </a:schemeClr>
          </a:solidFill>
          <a:ln>
            <a:solidFill>
              <a:schemeClr val="tx1"/>
            </a:solidFill>
          </a:ln>
        </p:spPr>
        <p:txBody>
          <a:bodyPr wrap="square" rtlCol="0">
            <a:spAutoFit/>
          </a:bodyPr>
          <a:lstStyle/>
          <a:p>
            <a:r>
              <a:rPr lang="es-MX" dirty="0">
                <a:solidFill>
                  <a:schemeClr val="bg1"/>
                </a:solidFill>
              </a:rPr>
              <a:t>Amenazas</a:t>
            </a:r>
          </a:p>
          <a:p>
            <a:endParaRPr lang="es-MX" dirty="0">
              <a:solidFill>
                <a:schemeClr val="bg1"/>
              </a:solidFill>
            </a:endParaRPr>
          </a:p>
          <a:p>
            <a:r>
              <a:rPr lang="es-MX" dirty="0">
                <a:solidFill>
                  <a:schemeClr val="bg1"/>
                </a:solidFill>
              </a:rPr>
              <a:t>Tigres y Pachuca como rivales directos</a:t>
            </a:r>
          </a:p>
          <a:p>
            <a:r>
              <a:rPr lang="es-MX" dirty="0">
                <a:solidFill>
                  <a:schemeClr val="bg1"/>
                </a:solidFill>
              </a:rPr>
              <a:t>Lesiones frecuentes</a:t>
            </a:r>
          </a:p>
          <a:p>
            <a:r>
              <a:rPr lang="es-MX" dirty="0">
                <a:solidFill>
                  <a:schemeClr val="bg1"/>
                </a:solidFill>
              </a:rPr>
              <a:t>Exposición en transición defensiva</a:t>
            </a:r>
          </a:p>
        </p:txBody>
      </p:sp>
    </p:spTree>
    <p:extLst>
      <p:ext uri="{BB962C8B-B14F-4D97-AF65-F5344CB8AC3E}">
        <p14:creationId xmlns:p14="http://schemas.microsoft.com/office/powerpoint/2010/main" val="2614557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F1BE45-217F-4AE7-9F21-B374DCA3A7C0}"/>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400" dirty="0" err="1"/>
              <a:t>Posiciones</a:t>
            </a:r>
            <a:r>
              <a:rPr lang="en-US" sz="3400" dirty="0"/>
              <a:t> </a:t>
            </a:r>
            <a:r>
              <a:rPr lang="en-US" sz="3400" dirty="0" err="1"/>
              <a:t>consideradas</a:t>
            </a:r>
            <a:r>
              <a:rPr lang="en-US" sz="3400" dirty="0"/>
              <a:t>: </a:t>
            </a:r>
            <a:r>
              <a:rPr lang="en-US" sz="3400" dirty="0" err="1"/>
              <a:t>Delanteras</a:t>
            </a:r>
            <a:endParaRPr lang="en-US" sz="3400" dirty="0"/>
          </a:p>
        </p:txBody>
      </p:sp>
      <p:grpSp>
        <p:nvGrpSpPr>
          <p:cNvPr id="43" name="Group 4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44" name="Rectangle 4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D570F77-D257-43FB-AADA-6B75B88D60E5}"/>
              </a:ext>
            </a:extLst>
          </p:cNvPr>
          <p:cNvSpPr txBox="1"/>
          <p:nvPr/>
        </p:nvSpPr>
        <p:spPr>
          <a:xfrm>
            <a:off x="590719" y="2330505"/>
            <a:ext cx="4559425" cy="3979585"/>
          </a:xfrm>
          <a:prstGeom prst="rect">
            <a:avLst/>
          </a:prstGeom>
        </p:spPr>
        <p:txBody>
          <a:bodyPr vert="horz" lIns="91440" tIns="45720" rIns="91440" bIns="45720" rtlCol="0" anchor="ctr">
            <a:normAutofit fontScale="70000" lnSpcReduction="20000"/>
          </a:bodyPr>
          <a:lstStyle/>
          <a:p>
            <a:pPr defTabSz="914400">
              <a:lnSpc>
                <a:spcPct val="90000"/>
              </a:lnSpc>
              <a:spcAft>
                <a:spcPts val="600"/>
              </a:spcAft>
            </a:pPr>
            <a:r>
              <a:rPr lang="en-US" sz="2000" dirty="0" err="1"/>
              <a:t>En</a:t>
            </a:r>
            <a:r>
              <a:rPr lang="en-US" sz="2000" dirty="0"/>
              <a:t> </a:t>
            </a:r>
            <a:r>
              <a:rPr lang="en-US" sz="2000" dirty="0" err="1"/>
              <a:t>este</a:t>
            </a:r>
            <a:r>
              <a:rPr lang="en-US" sz="2000" dirty="0"/>
              <a:t> </a:t>
            </a:r>
            <a:r>
              <a:rPr lang="en-US" sz="2000" dirty="0" err="1"/>
              <a:t>análisis</a:t>
            </a:r>
            <a:r>
              <a:rPr lang="en-US" sz="2000" dirty="0"/>
              <a:t> </a:t>
            </a:r>
            <a:r>
              <a:rPr lang="en-US" sz="2000" dirty="0" err="1"/>
              <a:t>notamos</a:t>
            </a:r>
            <a:r>
              <a:rPr lang="en-US" sz="2000" dirty="0"/>
              <a:t> que </a:t>
            </a:r>
            <a:r>
              <a:rPr lang="en-US" sz="2000" dirty="0" err="1"/>
              <a:t>el</a:t>
            </a:r>
            <a:r>
              <a:rPr lang="en-US" sz="2000" dirty="0"/>
              <a:t> América no </a:t>
            </a:r>
            <a:r>
              <a:rPr lang="en-US" sz="2000" dirty="0" err="1"/>
              <a:t>busca</a:t>
            </a:r>
            <a:r>
              <a:rPr lang="en-US" sz="2000" dirty="0"/>
              <a:t> una </a:t>
            </a:r>
            <a:r>
              <a:rPr lang="en-US" sz="2000" dirty="0" err="1"/>
              <a:t>centro</a:t>
            </a:r>
            <a:r>
              <a:rPr lang="en-US" sz="2000" dirty="0"/>
              <a:t> </a:t>
            </a:r>
            <a:r>
              <a:rPr lang="en-US" sz="2000" dirty="0" err="1"/>
              <a:t>delantera</a:t>
            </a:r>
            <a:r>
              <a:rPr lang="en-US" sz="2000" dirty="0"/>
              <a:t> </a:t>
            </a:r>
            <a:r>
              <a:rPr lang="en-US" sz="2000" dirty="0" err="1"/>
              <a:t>tradicional</a:t>
            </a:r>
            <a:r>
              <a:rPr lang="en-US" sz="2000" dirty="0"/>
              <a:t>, </a:t>
            </a:r>
            <a:r>
              <a:rPr lang="en-US" sz="2000" dirty="0" err="1"/>
              <a:t>sino</a:t>
            </a:r>
            <a:r>
              <a:rPr lang="en-US" sz="2000" dirty="0"/>
              <a:t> que </a:t>
            </a:r>
            <a:r>
              <a:rPr lang="en-US" sz="2000" dirty="0" err="1"/>
              <a:t>busca</a:t>
            </a:r>
            <a:r>
              <a:rPr lang="en-US" sz="2000" dirty="0"/>
              <a:t> </a:t>
            </a:r>
            <a:r>
              <a:rPr lang="en-US" sz="2000" dirty="0" err="1"/>
              <a:t>alguien</a:t>
            </a:r>
            <a:r>
              <a:rPr lang="en-US" sz="2000" dirty="0"/>
              <a:t> </a:t>
            </a:r>
            <a:r>
              <a:rPr lang="en-US" sz="2000" dirty="0" err="1"/>
              <a:t>más</a:t>
            </a:r>
            <a:r>
              <a:rPr lang="en-US" sz="2000" dirty="0"/>
              <a:t> </a:t>
            </a:r>
            <a:r>
              <a:rPr lang="en-US" sz="2000" dirty="0" err="1"/>
              <a:t>fluida</a:t>
            </a:r>
            <a:r>
              <a:rPr lang="en-US" sz="2000" dirty="0"/>
              <a:t> </a:t>
            </a:r>
            <a:r>
              <a:rPr lang="en-US" sz="2000" dirty="0" err="1"/>
              <a:t>función</a:t>
            </a:r>
            <a:r>
              <a:rPr lang="en-US" sz="2000" dirty="0"/>
              <a:t> que </a:t>
            </a:r>
            <a:r>
              <a:rPr lang="en-US" sz="2000" dirty="0" err="1"/>
              <a:t>cumplía</a:t>
            </a:r>
            <a:r>
              <a:rPr lang="en-US" sz="2000" dirty="0"/>
              <a:t> a la </a:t>
            </a:r>
            <a:r>
              <a:rPr lang="en-US" sz="2000" dirty="0" err="1"/>
              <a:t>perfección</a:t>
            </a:r>
            <a:r>
              <a:rPr lang="en-US" sz="2000" dirty="0"/>
              <a:t> Priscilla Da Silva.</a:t>
            </a:r>
          </a:p>
          <a:p>
            <a:pPr defTabSz="914400">
              <a:lnSpc>
                <a:spcPct val="90000"/>
              </a:lnSpc>
              <a:spcAft>
                <a:spcPts val="600"/>
              </a:spcAft>
            </a:pPr>
            <a:r>
              <a:rPr lang="en-US" sz="2000" dirty="0"/>
              <a:t>La Fortaleza de Bruna es la </a:t>
            </a:r>
            <a:r>
              <a:rPr lang="en-US" sz="2000" dirty="0" err="1"/>
              <a:t>generación</a:t>
            </a:r>
            <a:r>
              <a:rPr lang="en-US" sz="2000" dirty="0"/>
              <a:t> de remates </a:t>
            </a:r>
            <a:r>
              <a:rPr lang="en-US" sz="2000" dirty="0" err="1"/>
              <a:t>constantes</a:t>
            </a:r>
            <a:r>
              <a:rPr lang="en-US" sz="2000" dirty="0"/>
              <a:t>, que </a:t>
            </a:r>
            <a:r>
              <a:rPr lang="en-US" sz="2000" dirty="0" err="1"/>
              <a:t>tenga</a:t>
            </a:r>
            <a:r>
              <a:rPr lang="en-US" sz="2000" dirty="0"/>
              <a:t> una </a:t>
            </a:r>
            <a:r>
              <a:rPr lang="en-US" sz="2000" dirty="0" err="1"/>
              <a:t>conexión</a:t>
            </a:r>
            <a:r>
              <a:rPr lang="en-US" sz="2000" dirty="0"/>
              <a:t> con la </a:t>
            </a:r>
            <a:r>
              <a:rPr lang="en-US" sz="2000" dirty="0" err="1"/>
              <a:t>extremo</a:t>
            </a:r>
            <a:r>
              <a:rPr lang="en-US" sz="2000" dirty="0"/>
              <a:t> (</a:t>
            </a:r>
            <a:r>
              <a:rPr lang="en-US" sz="2000" dirty="0" err="1"/>
              <a:t>Saldívar</a:t>
            </a:r>
            <a:r>
              <a:rPr lang="en-US" sz="2000" dirty="0"/>
              <a:t>) y </a:t>
            </a:r>
            <a:r>
              <a:rPr lang="en-US" sz="2000" dirty="0" err="1"/>
              <a:t>además</a:t>
            </a:r>
            <a:r>
              <a:rPr lang="en-US" sz="2000" dirty="0"/>
              <a:t> </a:t>
            </a:r>
            <a:r>
              <a:rPr lang="en-US" sz="2000" dirty="0" err="1"/>
              <a:t>atraiga</a:t>
            </a:r>
            <a:r>
              <a:rPr lang="en-US" sz="2000" dirty="0"/>
              <a:t> a las </a:t>
            </a:r>
            <a:r>
              <a:rPr lang="en-US" sz="2000" dirty="0" err="1"/>
              <a:t>defensas</a:t>
            </a:r>
            <a:r>
              <a:rPr lang="en-US" sz="2000" dirty="0"/>
              <a:t> para que Kiana </a:t>
            </a:r>
            <a:r>
              <a:rPr lang="en-US" sz="2000" dirty="0" err="1"/>
              <a:t>pueda</a:t>
            </a:r>
            <a:r>
              <a:rPr lang="en-US" sz="2000" dirty="0"/>
              <a:t> </a:t>
            </a:r>
            <a:r>
              <a:rPr lang="en-US" sz="2000" dirty="0" err="1"/>
              <a:t>finalizar</a:t>
            </a:r>
            <a:r>
              <a:rPr lang="en-US" sz="2000" dirty="0"/>
              <a:t> </a:t>
            </a:r>
            <a:r>
              <a:rPr lang="en-US" sz="2000" dirty="0" err="1"/>
              <a:t>desde</a:t>
            </a:r>
            <a:r>
              <a:rPr lang="en-US" sz="2000" dirty="0"/>
              <a:t> la </a:t>
            </a:r>
            <a:r>
              <a:rPr lang="en-US" sz="2000" dirty="0" err="1"/>
              <a:t>segunda</a:t>
            </a:r>
            <a:r>
              <a:rPr lang="en-US" sz="2000" dirty="0"/>
              <a:t> </a:t>
            </a:r>
            <a:r>
              <a:rPr lang="en-US" sz="2000" dirty="0" err="1"/>
              <a:t>línea</a:t>
            </a:r>
            <a:r>
              <a:rPr lang="en-US" sz="2000" dirty="0"/>
              <a:t>.</a:t>
            </a:r>
          </a:p>
          <a:p>
            <a:pPr defTabSz="914400">
              <a:lnSpc>
                <a:spcPct val="90000"/>
              </a:lnSpc>
              <a:spcAft>
                <a:spcPts val="600"/>
              </a:spcAft>
            </a:pPr>
            <a:r>
              <a:rPr lang="en-US" sz="2000" dirty="0"/>
              <a:t>Por </a:t>
            </a:r>
            <a:r>
              <a:rPr lang="en-US" sz="2000" dirty="0" err="1"/>
              <a:t>eso</a:t>
            </a:r>
            <a:r>
              <a:rPr lang="en-US" sz="2000" dirty="0"/>
              <a:t> </a:t>
            </a:r>
            <a:r>
              <a:rPr lang="en-US" sz="2000" dirty="0" err="1"/>
              <a:t>buscamos</a:t>
            </a:r>
            <a:r>
              <a:rPr lang="en-US" sz="2000" dirty="0"/>
              <a:t> </a:t>
            </a:r>
            <a:r>
              <a:rPr lang="en-US" sz="2000" dirty="0" err="1"/>
              <a:t>alguien</a:t>
            </a:r>
            <a:r>
              <a:rPr lang="en-US" sz="2000" dirty="0"/>
              <a:t> con una </a:t>
            </a:r>
            <a:r>
              <a:rPr lang="en-US" sz="2000" dirty="0" err="1"/>
              <a:t>versatilidad</a:t>
            </a:r>
            <a:r>
              <a:rPr lang="en-US" sz="2000" dirty="0"/>
              <a:t> para </a:t>
            </a:r>
            <a:r>
              <a:rPr lang="en-US" sz="2000" dirty="0" err="1"/>
              <a:t>jugar</a:t>
            </a:r>
            <a:r>
              <a:rPr lang="en-US" sz="2000" dirty="0"/>
              <a:t> </a:t>
            </a:r>
            <a:r>
              <a:rPr lang="en-US" sz="2000" dirty="0" err="1"/>
              <a:t>en</a:t>
            </a:r>
            <a:r>
              <a:rPr lang="en-US" sz="2000" dirty="0"/>
              <a:t> un Sistema </a:t>
            </a:r>
            <a:r>
              <a:rPr lang="en-US" sz="2000" dirty="0" err="1"/>
              <a:t>donde</a:t>
            </a:r>
            <a:r>
              <a:rPr lang="en-US" sz="2000" dirty="0"/>
              <a:t> la </a:t>
            </a:r>
            <a:r>
              <a:rPr lang="en-US" sz="2000" dirty="0" err="1"/>
              <a:t>posesión</a:t>
            </a:r>
            <a:r>
              <a:rPr lang="en-US" sz="2000" dirty="0"/>
              <a:t> es </a:t>
            </a:r>
            <a:r>
              <a:rPr lang="en-US" sz="2000" dirty="0" err="1"/>
              <a:t>importante</a:t>
            </a:r>
            <a:r>
              <a:rPr lang="en-US" sz="2000" dirty="0"/>
              <a:t>, por lo que debe </a:t>
            </a:r>
            <a:r>
              <a:rPr lang="en-US" sz="2000" dirty="0" err="1"/>
              <a:t>dominar</a:t>
            </a:r>
            <a:r>
              <a:rPr lang="en-US" sz="2000" dirty="0"/>
              <a:t> </a:t>
            </a:r>
            <a:r>
              <a:rPr lang="en-US" sz="2000" dirty="0" err="1"/>
              <a:t>movimiento</a:t>
            </a:r>
            <a:r>
              <a:rPr lang="en-US" sz="2000" dirty="0"/>
              <a:t> sin </a:t>
            </a:r>
            <a:r>
              <a:rPr lang="en-US" sz="2000" dirty="0" err="1"/>
              <a:t>balón</a:t>
            </a:r>
            <a:r>
              <a:rPr lang="en-US" sz="2000" dirty="0"/>
              <a:t> y </a:t>
            </a:r>
            <a:r>
              <a:rPr lang="en-US" sz="2000" dirty="0" err="1"/>
              <a:t>ataque</a:t>
            </a:r>
            <a:r>
              <a:rPr lang="en-US" sz="2000" dirty="0"/>
              <a:t> por zonas.</a:t>
            </a:r>
          </a:p>
          <a:p>
            <a:pPr defTabSz="914400">
              <a:lnSpc>
                <a:spcPct val="90000"/>
              </a:lnSpc>
              <a:spcAft>
                <a:spcPts val="600"/>
              </a:spcAft>
            </a:pPr>
            <a:r>
              <a:rPr lang="en-US" sz="2000" dirty="0" err="1"/>
              <a:t>Características</a:t>
            </a:r>
            <a:r>
              <a:rPr lang="en-US" sz="2000" dirty="0"/>
              <a:t> </a:t>
            </a:r>
            <a:r>
              <a:rPr lang="en-US" sz="2000" dirty="0" err="1"/>
              <a:t>principales</a:t>
            </a:r>
            <a:r>
              <a:rPr lang="en-US" sz="2000" dirty="0"/>
              <a:t>:</a:t>
            </a:r>
          </a:p>
          <a:p>
            <a:pPr marL="342900" indent="-342900" defTabSz="914400">
              <a:lnSpc>
                <a:spcPct val="90000"/>
              </a:lnSpc>
              <a:spcAft>
                <a:spcPts val="600"/>
              </a:spcAft>
              <a:buFont typeface="Arial" panose="020B0604020202020204" pitchFamily="34" charset="0"/>
              <a:buChar char="•"/>
            </a:pPr>
            <a:r>
              <a:rPr lang="en-US" sz="2000" dirty="0" err="1"/>
              <a:t>Finalizadora</a:t>
            </a:r>
            <a:r>
              <a:rPr lang="en-US" sz="2000" dirty="0"/>
              <a:t> de </a:t>
            </a:r>
            <a:r>
              <a:rPr lang="en-US" sz="2000" dirty="0" err="1"/>
              <a:t>área</a:t>
            </a:r>
            <a:endParaRPr lang="en-US" sz="2000" dirty="0"/>
          </a:p>
          <a:p>
            <a:pPr marL="342900" indent="-342900" defTabSz="914400">
              <a:lnSpc>
                <a:spcPct val="90000"/>
              </a:lnSpc>
              <a:spcAft>
                <a:spcPts val="600"/>
              </a:spcAft>
              <a:buFont typeface="Arial" panose="020B0604020202020204" pitchFamily="34" charset="0"/>
              <a:buChar char="•"/>
            </a:pPr>
            <a:r>
              <a:rPr lang="en-US" sz="2000" dirty="0" err="1"/>
              <a:t>Pases</a:t>
            </a:r>
            <a:r>
              <a:rPr lang="en-US" sz="2000" dirty="0"/>
              <a:t> clave</a:t>
            </a:r>
          </a:p>
          <a:p>
            <a:pPr marL="342900" indent="-342900" defTabSz="914400">
              <a:lnSpc>
                <a:spcPct val="90000"/>
              </a:lnSpc>
              <a:spcAft>
                <a:spcPts val="600"/>
              </a:spcAft>
              <a:buFont typeface="Arial" panose="020B0604020202020204" pitchFamily="34" charset="0"/>
              <a:buChar char="•"/>
            </a:pPr>
            <a:r>
              <a:rPr lang="en-US" sz="2000" dirty="0" err="1"/>
              <a:t>Precisión</a:t>
            </a:r>
            <a:r>
              <a:rPr lang="en-US" sz="2000" dirty="0"/>
              <a:t> de </a:t>
            </a:r>
            <a:r>
              <a:rPr lang="en-US" sz="2000" dirty="0" err="1"/>
              <a:t>pases</a:t>
            </a:r>
            <a:endParaRPr lang="en-US" sz="2000" dirty="0"/>
          </a:p>
          <a:p>
            <a:pPr marL="342900" indent="-342900" defTabSz="914400">
              <a:lnSpc>
                <a:spcPct val="90000"/>
              </a:lnSpc>
              <a:spcAft>
                <a:spcPts val="600"/>
              </a:spcAft>
              <a:buFont typeface="Arial" panose="020B0604020202020204" pitchFamily="34" charset="0"/>
              <a:buChar char="•"/>
            </a:pPr>
            <a:r>
              <a:rPr lang="en-US" sz="2000" dirty="0"/>
              <a:t>Pressing </a:t>
            </a:r>
            <a:r>
              <a:rPr lang="en-US" sz="2000" dirty="0" err="1"/>
              <a:t>en</a:t>
            </a:r>
            <a:r>
              <a:rPr lang="en-US" sz="2000" dirty="0"/>
              <a:t> </a:t>
            </a:r>
            <a:r>
              <a:rPr lang="en-US" sz="2000" dirty="0" err="1"/>
              <a:t>segunda</a:t>
            </a:r>
            <a:r>
              <a:rPr lang="en-US" sz="2000" dirty="0"/>
              <a:t> </a:t>
            </a:r>
            <a:r>
              <a:rPr lang="en-US" sz="2000" dirty="0" err="1"/>
              <a:t>jugada</a:t>
            </a:r>
            <a:endParaRPr lang="en-US" sz="2000" dirty="0"/>
          </a:p>
          <a:p>
            <a:pPr marL="342900" indent="-342900" defTabSz="914400">
              <a:lnSpc>
                <a:spcPct val="90000"/>
              </a:lnSpc>
              <a:spcAft>
                <a:spcPts val="600"/>
              </a:spcAft>
              <a:buFont typeface="Arial" panose="020B0604020202020204" pitchFamily="34" charset="0"/>
              <a:buChar char="•"/>
            </a:pPr>
            <a:r>
              <a:rPr lang="en-US" sz="2000" dirty="0" err="1"/>
              <a:t>Duelos</a:t>
            </a:r>
            <a:r>
              <a:rPr lang="en-US" sz="2000" dirty="0"/>
              <a:t> </a:t>
            </a:r>
            <a:r>
              <a:rPr lang="en-US" sz="2000" dirty="0" err="1"/>
              <a:t>ganados</a:t>
            </a:r>
            <a:endParaRPr lang="en-US" sz="2000" dirty="0"/>
          </a:p>
          <a:p>
            <a:pPr marL="342900" indent="-342900" defTabSz="914400">
              <a:lnSpc>
                <a:spcPct val="90000"/>
              </a:lnSpc>
              <a:spcAft>
                <a:spcPts val="600"/>
              </a:spcAft>
              <a:buFont typeface="Arial" panose="020B0604020202020204" pitchFamily="34" charset="0"/>
              <a:buChar char="•"/>
            </a:pPr>
            <a:r>
              <a:rPr lang="en-US" sz="2000" dirty="0" err="1"/>
              <a:t>Juego</a:t>
            </a:r>
            <a:r>
              <a:rPr lang="en-US" sz="2000" dirty="0"/>
              <a:t> </a:t>
            </a:r>
            <a:r>
              <a:rPr lang="en-US" sz="2000" dirty="0" err="1"/>
              <a:t>aéreo</a:t>
            </a:r>
            <a:endParaRPr lang="en-US" sz="2000" dirty="0"/>
          </a:p>
        </p:txBody>
      </p:sp>
      <p:sp>
        <p:nvSpPr>
          <p:cNvPr id="49" name="Rectangle 4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descr="Gráfico, Gráfico radial&#10;&#10;Descripción generada automáticamente">
            <a:extLst>
              <a:ext uri="{FF2B5EF4-FFF2-40B4-BE49-F238E27FC236}">
                <a16:creationId xmlns:a16="http://schemas.microsoft.com/office/drawing/2014/main" id="{7B0674DE-6714-49C9-8463-0EF6670338E9}"/>
              </a:ext>
            </a:extLst>
          </p:cNvPr>
          <p:cNvPicPr>
            <a:picLocks noChangeAspect="1"/>
          </p:cNvPicPr>
          <p:nvPr/>
        </p:nvPicPr>
        <p:blipFill>
          <a:blip r:embed="rId2">
            <a:extLst>
              <a:ext uri="{28A0092B-C50C-407E-A947-70E740481C1C}">
                <a14:useLocalDpi xmlns:a14="http://schemas.microsoft.com/office/drawing/2010/main" val="0"/>
              </a:ext>
            </a:extLst>
          </a:blip>
          <a:srcRect r="11540" b="-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83709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F1BE45-217F-4AE7-9F21-B374DCA3A7C0}"/>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400"/>
              <a:t>Posiciones consideradas: Centrales</a:t>
            </a:r>
          </a:p>
        </p:txBody>
      </p:sp>
      <p:grpSp>
        <p:nvGrpSpPr>
          <p:cNvPr id="33" name="Group 3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4" name="Rectangle 3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D570F77-D257-43FB-AADA-6B75B88D60E5}"/>
              </a:ext>
            </a:extLst>
          </p:cNvPr>
          <p:cNvSpPr txBox="1"/>
          <p:nvPr/>
        </p:nvSpPr>
        <p:spPr>
          <a:xfrm>
            <a:off x="590719" y="2330505"/>
            <a:ext cx="4559425" cy="3979585"/>
          </a:xfrm>
          <a:prstGeom prst="rect">
            <a:avLst/>
          </a:prstGeom>
        </p:spPr>
        <p:txBody>
          <a:bodyPr vert="horz" lIns="91440" tIns="45720" rIns="91440" bIns="45720" rtlCol="0" anchor="ctr">
            <a:normAutofit fontScale="92500" lnSpcReduction="20000"/>
          </a:bodyPr>
          <a:lstStyle/>
          <a:p>
            <a:pPr defTabSz="914400">
              <a:lnSpc>
                <a:spcPct val="90000"/>
              </a:lnSpc>
              <a:spcAft>
                <a:spcPts val="600"/>
              </a:spcAft>
            </a:pPr>
            <a:r>
              <a:rPr lang="en-US" sz="2000" dirty="0"/>
              <a:t>La </a:t>
            </a:r>
            <a:r>
              <a:rPr lang="en-US" sz="2000" dirty="0" err="1"/>
              <a:t>defensiva</a:t>
            </a:r>
            <a:r>
              <a:rPr lang="en-US" sz="2000" dirty="0"/>
              <a:t> del América no se </a:t>
            </a:r>
            <a:r>
              <a:rPr lang="en-US" sz="2000" dirty="0" err="1"/>
              <a:t>limita</a:t>
            </a:r>
            <a:r>
              <a:rPr lang="en-US" sz="2000" dirty="0"/>
              <a:t> a una sola </a:t>
            </a:r>
            <a:r>
              <a:rPr lang="en-US" sz="2000" dirty="0" err="1"/>
              <a:t>habilidad</a:t>
            </a:r>
            <a:r>
              <a:rPr lang="en-US" sz="2000" dirty="0"/>
              <a:t>, </a:t>
            </a:r>
            <a:r>
              <a:rPr lang="en-US" sz="2000" dirty="0" err="1"/>
              <a:t>sino</a:t>
            </a:r>
            <a:r>
              <a:rPr lang="en-US" sz="2000" dirty="0"/>
              <a:t> que </a:t>
            </a:r>
            <a:r>
              <a:rPr lang="en-US" sz="2000" dirty="0" err="1"/>
              <a:t>busca</a:t>
            </a:r>
            <a:r>
              <a:rPr lang="en-US" sz="2000" dirty="0"/>
              <a:t> una central que </a:t>
            </a:r>
            <a:r>
              <a:rPr lang="en-US" sz="2000" dirty="0" err="1"/>
              <a:t>tenga</a:t>
            </a:r>
            <a:r>
              <a:rPr lang="en-US" sz="2000" dirty="0"/>
              <a:t> </a:t>
            </a:r>
            <a:r>
              <a:rPr lang="en-US" sz="2000" dirty="0" err="1"/>
              <a:t>daptabilidad</a:t>
            </a:r>
            <a:r>
              <a:rPr lang="en-US" sz="2000" dirty="0"/>
              <a:t> para un </a:t>
            </a:r>
            <a:r>
              <a:rPr lang="en-US" sz="2000" dirty="0" err="1"/>
              <a:t>juego</a:t>
            </a:r>
            <a:r>
              <a:rPr lang="en-US" sz="2000" dirty="0"/>
              <a:t> flexible: </a:t>
            </a:r>
          </a:p>
          <a:p>
            <a:pPr marL="342900" indent="-342900" defTabSz="914400">
              <a:lnSpc>
                <a:spcPct val="90000"/>
              </a:lnSpc>
              <a:spcAft>
                <a:spcPts val="600"/>
              </a:spcAft>
              <a:buFont typeface="Arial" panose="020B0604020202020204" pitchFamily="34" charset="0"/>
              <a:buChar char="•"/>
            </a:pPr>
            <a:r>
              <a:rPr lang="en-US" sz="2000" dirty="0" err="1"/>
              <a:t>Dominio</a:t>
            </a:r>
            <a:r>
              <a:rPr lang="en-US" sz="2000" dirty="0"/>
              <a:t> </a:t>
            </a:r>
            <a:r>
              <a:rPr lang="en-US" sz="2000" dirty="0" err="1"/>
              <a:t>en</a:t>
            </a:r>
            <a:r>
              <a:rPr lang="en-US" sz="2000" dirty="0"/>
              <a:t> </a:t>
            </a:r>
            <a:r>
              <a:rPr lang="en-US" sz="2000" dirty="0" err="1"/>
              <a:t>duelos</a:t>
            </a:r>
            <a:r>
              <a:rPr lang="en-US" sz="2000" dirty="0"/>
              <a:t> </a:t>
            </a:r>
            <a:r>
              <a:rPr lang="en-US" sz="2000" dirty="0" err="1"/>
              <a:t>aéreos</a:t>
            </a:r>
            <a:r>
              <a:rPr lang="en-US" sz="2000" dirty="0"/>
              <a:t>, </a:t>
            </a:r>
            <a:r>
              <a:rPr lang="en-US" sz="2000" dirty="0" err="1"/>
              <a:t>como</a:t>
            </a:r>
            <a:r>
              <a:rPr lang="en-US" sz="2000" dirty="0"/>
              <a:t> Kimberly</a:t>
            </a:r>
          </a:p>
          <a:p>
            <a:pPr marL="342900" indent="-342900" defTabSz="914400">
              <a:lnSpc>
                <a:spcPct val="90000"/>
              </a:lnSpc>
              <a:spcAft>
                <a:spcPts val="600"/>
              </a:spcAft>
              <a:buFont typeface="Arial" panose="020B0604020202020204" pitchFamily="34" charset="0"/>
              <a:buChar char="•"/>
            </a:pPr>
            <a:r>
              <a:rPr lang="en-US" sz="2000" dirty="0" err="1"/>
              <a:t>Alguien</a:t>
            </a:r>
            <a:r>
              <a:rPr lang="en-US" sz="2000" dirty="0"/>
              <a:t> que </a:t>
            </a:r>
            <a:r>
              <a:rPr lang="en-US" sz="2000" dirty="0" err="1"/>
              <a:t>pueda</a:t>
            </a:r>
            <a:r>
              <a:rPr lang="en-US" sz="2000" dirty="0"/>
              <a:t> </a:t>
            </a:r>
            <a:r>
              <a:rPr lang="en-US" sz="2000" dirty="0" err="1"/>
              <a:t>jugar</a:t>
            </a:r>
            <a:r>
              <a:rPr lang="en-US" sz="2000" dirty="0"/>
              <a:t> </a:t>
            </a:r>
            <a:r>
              <a:rPr lang="en-US" sz="2000" dirty="0" err="1"/>
              <a:t>como</a:t>
            </a:r>
            <a:r>
              <a:rPr lang="en-US" sz="2000" dirty="0"/>
              <a:t> sweeper, </a:t>
            </a:r>
            <a:r>
              <a:rPr lang="en-US" sz="2000" dirty="0" err="1"/>
              <a:t>capaz</a:t>
            </a:r>
            <a:r>
              <a:rPr lang="en-US" sz="2000" dirty="0"/>
              <a:t> de </a:t>
            </a:r>
            <a:r>
              <a:rPr lang="en-US" sz="2000" dirty="0" err="1"/>
              <a:t>interceptar</a:t>
            </a:r>
            <a:r>
              <a:rPr lang="en-US" sz="2000" dirty="0"/>
              <a:t> </a:t>
            </a:r>
            <a:r>
              <a:rPr lang="en-US" sz="2000" dirty="0" err="1"/>
              <a:t>pases</a:t>
            </a:r>
            <a:r>
              <a:rPr lang="en-US" sz="2000" dirty="0"/>
              <a:t> </a:t>
            </a:r>
            <a:r>
              <a:rPr lang="en-US" sz="2000" dirty="0" err="1"/>
              <a:t>desde</a:t>
            </a:r>
            <a:r>
              <a:rPr lang="en-US" sz="2000" dirty="0"/>
              <a:t> la </a:t>
            </a:r>
            <a:r>
              <a:rPr lang="en-US" sz="2000" dirty="0" err="1"/>
              <a:t>siguiente</a:t>
            </a:r>
            <a:r>
              <a:rPr lang="en-US" sz="2000" dirty="0"/>
              <a:t> </a:t>
            </a:r>
            <a:r>
              <a:rPr lang="en-US" sz="2000" dirty="0" err="1"/>
              <a:t>línea</a:t>
            </a:r>
            <a:r>
              <a:rPr lang="en-US" sz="2000" dirty="0"/>
              <a:t> y </a:t>
            </a:r>
            <a:r>
              <a:rPr lang="en-US" sz="2000" dirty="0" err="1"/>
              <a:t>recuperar</a:t>
            </a:r>
            <a:r>
              <a:rPr lang="en-US" sz="2000" dirty="0"/>
              <a:t> la </a:t>
            </a:r>
            <a:r>
              <a:rPr lang="en-US" sz="2000" dirty="0" err="1"/>
              <a:t>posición</a:t>
            </a:r>
            <a:endParaRPr lang="en-US" sz="2000" dirty="0"/>
          </a:p>
          <a:p>
            <a:pPr marL="342900" indent="-342900" defTabSz="914400">
              <a:lnSpc>
                <a:spcPct val="90000"/>
              </a:lnSpc>
              <a:spcAft>
                <a:spcPts val="600"/>
              </a:spcAft>
              <a:buFont typeface="Arial" panose="020B0604020202020204" pitchFamily="34" charset="0"/>
              <a:buChar char="•"/>
            </a:pPr>
            <a:r>
              <a:rPr lang="en-US" sz="2000" dirty="0" err="1"/>
              <a:t>Distribuidora</a:t>
            </a:r>
            <a:r>
              <a:rPr lang="en-US" sz="2000" dirty="0"/>
              <a:t> </a:t>
            </a:r>
            <a:r>
              <a:rPr lang="en-US" sz="2000" dirty="0" err="1"/>
              <a:t>hábil</a:t>
            </a:r>
            <a:r>
              <a:rPr lang="en-US" sz="2000" dirty="0"/>
              <a:t>.</a:t>
            </a:r>
          </a:p>
          <a:p>
            <a:pPr marL="342900" indent="-342900" defTabSz="914400">
              <a:lnSpc>
                <a:spcPct val="90000"/>
              </a:lnSpc>
              <a:spcAft>
                <a:spcPts val="600"/>
              </a:spcAft>
              <a:buFont typeface="Arial" panose="020B0604020202020204" pitchFamily="34" charset="0"/>
              <a:buChar char="•"/>
            </a:pPr>
            <a:r>
              <a:rPr lang="en-US" sz="2000" dirty="0" err="1"/>
              <a:t>Capacidad</a:t>
            </a:r>
            <a:r>
              <a:rPr lang="en-US" sz="2000" dirty="0"/>
              <a:t> de </a:t>
            </a:r>
            <a:r>
              <a:rPr lang="en-US" sz="2000" dirty="0" err="1"/>
              <a:t>ganar</a:t>
            </a:r>
            <a:r>
              <a:rPr lang="en-US" sz="2000" dirty="0"/>
              <a:t> </a:t>
            </a:r>
            <a:r>
              <a:rPr lang="en-US" sz="2000" dirty="0" err="1"/>
              <a:t>acciones</a:t>
            </a:r>
            <a:r>
              <a:rPr lang="en-US" sz="2000" dirty="0"/>
              <a:t> 1 vs 1 </a:t>
            </a:r>
            <a:r>
              <a:rPr lang="en-US" sz="2000" dirty="0" err="1"/>
              <a:t>en</a:t>
            </a:r>
            <a:r>
              <a:rPr lang="en-US" sz="2000" dirty="0"/>
              <a:t> tierra</a:t>
            </a:r>
          </a:p>
          <a:p>
            <a:pPr marL="342900" indent="-342900" defTabSz="914400">
              <a:lnSpc>
                <a:spcPct val="90000"/>
              </a:lnSpc>
              <a:spcAft>
                <a:spcPts val="600"/>
              </a:spcAft>
              <a:buFont typeface="Arial" panose="020B0604020202020204" pitchFamily="34" charset="0"/>
              <a:buChar char="•"/>
            </a:pPr>
            <a:r>
              <a:rPr lang="en-US" sz="2000" dirty="0"/>
              <a:t>Seguridad</a:t>
            </a:r>
          </a:p>
          <a:p>
            <a:pPr marL="342900" indent="-342900" defTabSz="914400">
              <a:lnSpc>
                <a:spcPct val="90000"/>
              </a:lnSpc>
              <a:spcAft>
                <a:spcPts val="600"/>
              </a:spcAft>
              <a:buFont typeface="Arial" panose="020B0604020202020204" pitchFamily="34" charset="0"/>
              <a:buChar char="•"/>
            </a:pPr>
            <a:r>
              <a:rPr lang="en-US" sz="2000" dirty="0" err="1"/>
              <a:t>Perfil</a:t>
            </a:r>
            <a:r>
              <a:rPr lang="en-US" sz="2000" dirty="0"/>
              <a:t> </a:t>
            </a:r>
            <a:r>
              <a:rPr lang="en-US" sz="2000" dirty="0" err="1"/>
              <a:t>zurdo</a:t>
            </a:r>
            <a:r>
              <a:rPr lang="en-US" sz="2000" dirty="0"/>
              <a:t> de </a:t>
            </a:r>
            <a:r>
              <a:rPr lang="en-US" sz="2000" dirty="0" err="1"/>
              <a:t>preferencia</a:t>
            </a:r>
            <a:endParaRPr lang="en-US" sz="2000" dirty="0"/>
          </a:p>
          <a:p>
            <a:pPr marL="342900" indent="-342900" defTabSz="914400">
              <a:lnSpc>
                <a:spcPct val="90000"/>
              </a:lnSpc>
              <a:spcAft>
                <a:spcPts val="600"/>
              </a:spcAft>
              <a:buFont typeface="Arial" panose="020B0604020202020204" pitchFamily="34" charset="0"/>
              <a:buChar char="•"/>
            </a:pPr>
            <a:r>
              <a:rPr lang="en-US" sz="2000" dirty="0" err="1"/>
              <a:t>Dominancia</a:t>
            </a:r>
            <a:r>
              <a:rPr lang="en-US" sz="2000" dirty="0"/>
              <a:t> a </a:t>
            </a:r>
            <a:r>
              <a:rPr lang="en-US" sz="2000" dirty="0" err="1"/>
              <a:t>balón</a:t>
            </a:r>
            <a:r>
              <a:rPr lang="en-US" sz="2000" dirty="0"/>
              <a:t> </a:t>
            </a:r>
            <a:r>
              <a:rPr lang="en-US" sz="2000" dirty="0" err="1"/>
              <a:t>parado</a:t>
            </a:r>
            <a:endParaRPr lang="en-US" sz="2000" dirty="0"/>
          </a:p>
        </p:txBody>
      </p:sp>
      <p:sp>
        <p:nvSpPr>
          <p:cNvPr id="39" name="Rectangle 3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Gráfico, Gráfico radial&#10;&#10;Descripción generada automáticamente">
            <a:extLst>
              <a:ext uri="{FF2B5EF4-FFF2-40B4-BE49-F238E27FC236}">
                <a16:creationId xmlns:a16="http://schemas.microsoft.com/office/drawing/2014/main" id="{9462639C-D268-48EC-849C-53D21E5FE450}"/>
              </a:ext>
            </a:extLst>
          </p:cNvPr>
          <p:cNvPicPr>
            <a:picLocks noChangeAspect="1"/>
          </p:cNvPicPr>
          <p:nvPr/>
        </p:nvPicPr>
        <p:blipFill>
          <a:blip r:embed="rId2">
            <a:extLst>
              <a:ext uri="{28A0092B-C50C-407E-A947-70E740481C1C}">
                <a14:useLocalDpi xmlns:a14="http://schemas.microsoft.com/office/drawing/2010/main" val="0"/>
              </a:ext>
            </a:extLst>
          </a:blip>
          <a:srcRect l="3203" r="8338" b="-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119261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4">
            <a:extLst>
              <a:ext uri="{FF2B5EF4-FFF2-40B4-BE49-F238E27FC236}">
                <a16:creationId xmlns:a16="http://schemas.microsoft.com/office/drawing/2014/main" id="{2215C6C6-E45C-4179-9FC1-E8A4C1D47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16">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564726" y="1890469"/>
            <a:ext cx="5860051" cy="2079143"/>
            <a:chOff x="6081624" y="1998368"/>
            <a:chExt cx="5613457" cy="782175"/>
          </a:xfrm>
          <a:solidFill>
            <a:schemeClr val="accent4"/>
          </a:solidFill>
        </p:grpSpPr>
        <p:sp>
          <p:nvSpPr>
            <p:cNvPr id="29" name="Rectangle 17">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8">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20">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A78675D-8550-4AED-B6F0-D9DF304CEC63}"/>
              </a:ext>
            </a:extLst>
          </p:cNvPr>
          <p:cNvSpPr>
            <a:spLocks noGrp="1"/>
          </p:cNvSpPr>
          <p:nvPr>
            <p:ph type="title"/>
          </p:nvPr>
        </p:nvSpPr>
        <p:spPr>
          <a:xfrm>
            <a:off x="2019300" y="538956"/>
            <a:ext cx="8985250" cy="1118394"/>
          </a:xfrm>
        </p:spPr>
        <p:txBody>
          <a:bodyPr anchor="t">
            <a:normAutofit/>
          </a:bodyPr>
          <a:lstStyle/>
          <a:p>
            <a:r>
              <a:rPr lang="es-MX" sz="4000"/>
              <a:t>Elección de jugadoras</a:t>
            </a:r>
          </a:p>
        </p:txBody>
      </p:sp>
      <p:graphicFrame>
        <p:nvGraphicFramePr>
          <p:cNvPr id="5" name="Marcador de contenido 2">
            <a:extLst>
              <a:ext uri="{FF2B5EF4-FFF2-40B4-BE49-F238E27FC236}">
                <a16:creationId xmlns:a16="http://schemas.microsoft.com/office/drawing/2014/main" id="{0613DAE9-5F95-E447-6600-57833D5377FB}"/>
              </a:ext>
            </a:extLst>
          </p:cNvPr>
          <p:cNvGraphicFramePr>
            <a:graphicFrameLocks noGrp="1"/>
          </p:cNvGraphicFramePr>
          <p:nvPr>
            <p:ph idx="1"/>
            <p:extLst>
              <p:ext uri="{D42A27DB-BD31-4B8C-83A1-F6EECF244321}">
                <p14:modId xmlns:p14="http://schemas.microsoft.com/office/powerpoint/2010/main" val="499457495"/>
              </p:ext>
            </p:extLst>
          </p:nvPr>
        </p:nvGraphicFramePr>
        <p:xfrm>
          <a:off x="638175" y="1257301"/>
          <a:ext cx="10744200" cy="5476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4794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8CBDF2C-6A39-4E87-879D-BF8F58D8E773}"/>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Defensas</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54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7" name="Rectangle 4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Rectangle 5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520DDA2-E0CF-47EA-9743-1D922B09BF67}"/>
              </a:ext>
            </a:extLst>
          </p:cNvPr>
          <p:cNvSpPr>
            <a:spLocks noGrp="1"/>
          </p:cNvSpPr>
          <p:nvPr>
            <p:ph type="title"/>
          </p:nvPr>
        </p:nvSpPr>
        <p:spPr>
          <a:xfrm>
            <a:off x="1043631" y="873940"/>
            <a:ext cx="4928291" cy="1035781"/>
          </a:xfrm>
        </p:spPr>
        <p:txBody>
          <a:bodyPr anchor="ctr">
            <a:normAutofit/>
          </a:bodyPr>
          <a:lstStyle/>
          <a:p>
            <a:r>
              <a:rPr lang="es-MX" sz="3600" dirty="0"/>
              <a:t>Phoebe </a:t>
            </a:r>
            <a:r>
              <a:rPr lang="es-MX" sz="3600" dirty="0" err="1"/>
              <a:t>McClernon</a:t>
            </a:r>
            <a:endParaRPr lang="es-MX" sz="3600" dirty="0"/>
          </a:p>
        </p:txBody>
      </p:sp>
      <p:sp>
        <p:nvSpPr>
          <p:cNvPr id="9" name="Content Placeholder 8">
            <a:extLst>
              <a:ext uri="{FF2B5EF4-FFF2-40B4-BE49-F238E27FC236}">
                <a16:creationId xmlns:a16="http://schemas.microsoft.com/office/drawing/2014/main" id="{2D9729F7-5D23-16D2-67D0-31449B152520}"/>
              </a:ext>
            </a:extLst>
          </p:cNvPr>
          <p:cNvSpPr>
            <a:spLocks noGrp="1"/>
          </p:cNvSpPr>
          <p:nvPr>
            <p:ph idx="1"/>
          </p:nvPr>
        </p:nvSpPr>
        <p:spPr>
          <a:xfrm>
            <a:off x="1045029" y="2524721"/>
            <a:ext cx="4991629" cy="3677123"/>
          </a:xfrm>
        </p:spPr>
        <p:txBody>
          <a:bodyPr anchor="ctr">
            <a:normAutofit/>
          </a:bodyPr>
          <a:lstStyle/>
          <a:p>
            <a:r>
              <a:rPr lang="en-US" sz="1700"/>
              <a:t>Equipo: Seattle Reign FC</a:t>
            </a:r>
          </a:p>
          <a:p>
            <a:r>
              <a:rPr lang="en-US" sz="1700"/>
              <a:t>Edad 27 años</a:t>
            </a:r>
          </a:p>
          <a:p>
            <a:r>
              <a:rPr lang="en-US" sz="1700"/>
              <a:t>Estatura: 1.7 m.</a:t>
            </a:r>
          </a:p>
          <a:p>
            <a:r>
              <a:rPr lang="en-US" sz="1700"/>
              <a:t>Su virtud es que puede jugar como libero, se ajusta perfecto cuando América juega con 3 centrales.</a:t>
            </a:r>
          </a:p>
          <a:p>
            <a:r>
              <a:rPr lang="en-US" sz="1700"/>
              <a:t>Buena en el 1 vs 1 por tierra.</a:t>
            </a:r>
          </a:p>
          <a:p>
            <a:r>
              <a:rPr lang="en-US" sz="1700"/>
              <a:t>Buena salida, generalmente no se complica</a:t>
            </a:r>
          </a:p>
          <a:p>
            <a:r>
              <a:rPr lang="en-US" sz="1700"/>
              <a:t>Proactiva, siempre atenta al juego.</a:t>
            </a:r>
          </a:p>
          <a:p>
            <a:r>
              <a:rPr lang="en-US" sz="1700"/>
              <a:t>Contribuye en el juego aéreo pero no es su fortaleza</a:t>
            </a:r>
          </a:p>
        </p:txBody>
      </p:sp>
      <p:sp>
        <p:nvSpPr>
          <p:cNvPr id="53" name="Rectangle 52">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Gráfico, Gráfico radial&#10;&#10;Descripción generada automáticamente">
            <a:extLst>
              <a:ext uri="{FF2B5EF4-FFF2-40B4-BE49-F238E27FC236}">
                <a16:creationId xmlns:a16="http://schemas.microsoft.com/office/drawing/2014/main" id="{1927974D-5858-4E6A-AC86-DC00643BB3A1}"/>
              </a:ext>
            </a:extLst>
          </p:cNvPr>
          <p:cNvPicPr>
            <a:picLocks noChangeAspect="1"/>
          </p:cNvPicPr>
          <p:nvPr/>
        </p:nvPicPr>
        <p:blipFill>
          <a:blip r:embed="rId2">
            <a:extLst>
              <a:ext uri="{28A0092B-C50C-407E-A947-70E740481C1C}">
                <a14:useLocalDpi xmlns:a14="http://schemas.microsoft.com/office/drawing/2010/main" val="0"/>
              </a:ext>
            </a:extLst>
          </a:blip>
          <a:srcRect r="4" b="3065"/>
          <a:stretch>
            <a:fillRect/>
          </a:stretch>
        </p:blipFill>
        <p:spPr>
          <a:xfrm>
            <a:off x="6888952" y="873941"/>
            <a:ext cx="2049592" cy="1986852"/>
          </a:xfrm>
          <a:prstGeom prst="rect">
            <a:avLst/>
          </a:prstGeom>
        </p:spPr>
      </p:pic>
      <p:pic>
        <p:nvPicPr>
          <p:cNvPr id="4" name="Imagen 3">
            <a:extLst>
              <a:ext uri="{FF2B5EF4-FFF2-40B4-BE49-F238E27FC236}">
                <a16:creationId xmlns:a16="http://schemas.microsoft.com/office/drawing/2014/main" id="{47A78AA5-6D10-43AD-97D7-735AD66100A0}"/>
              </a:ext>
            </a:extLst>
          </p:cNvPr>
          <p:cNvPicPr>
            <a:picLocks noChangeAspect="1"/>
          </p:cNvPicPr>
          <p:nvPr/>
        </p:nvPicPr>
        <p:blipFill>
          <a:blip r:embed="rId3"/>
          <a:stretch>
            <a:fillRect/>
          </a:stretch>
        </p:blipFill>
        <p:spPr>
          <a:xfrm>
            <a:off x="9076116" y="873940"/>
            <a:ext cx="2064082" cy="1529848"/>
          </a:xfrm>
          <a:prstGeom prst="rect">
            <a:avLst/>
          </a:prstGeom>
        </p:spPr>
      </p:pic>
      <p:pic>
        <p:nvPicPr>
          <p:cNvPr id="13" name="table">
            <a:extLst>
              <a:ext uri="{FF2B5EF4-FFF2-40B4-BE49-F238E27FC236}">
                <a16:creationId xmlns:a16="http://schemas.microsoft.com/office/drawing/2014/main" id="{8B56C31C-1109-4E56-9160-BB6230D918B6}"/>
              </a:ext>
            </a:extLst>
          </p:cNvPr>
          <p:cNvPicPr>
            <a:picLocks noChangeAspect="1"/>
          </p:cNvPicPr>
          <p:nvPr/>
        </p:nvPicPr>
        <p:blipFill>
          <a:blip r:embed="rId4"/>
          <a:stretch>
            <a:fillRect/>
          </a:stretch>
        </p:blipFill>
        <p:spPr>
          <a:xfrm>
            <a:off x="6881706" y="2992610"/>
            <a:ext cx="4258492" cy="2342875"/>
          </a:xfrm>
          <a:prstGeom prst="rect">
            <a:avLst/>
          </a:prstGeom>
        </p:spPr>
      </p:pic>
      <p:cxnSp>
        <p:nvCxnSpPr>
          <p:cNvPr id="55" name="Straight Connector 5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464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51" name="Rectangle 5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Rectangle 5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717ED14-2D65-4C50-97C6-517E38AD85AD}"/>
              </a:ext>
            </a:extLst>
          </p:cNvPr>
          <p:cNvSpPr>
            <a:spLocks noGrp="1"/>
          </p:cNvSpPr>
          <p:nvPr>
            <p:ph type="title"/>
          </p:nvPr>
        </p:nvSpPr>
        <p:spPr>
          <a:xfrm>
            <a:off x="1043631" y="873940"/>
            <a:ext cx="4928291" cy="1035781"/>
          </a:xfrm>
        </p:spPr>
        <p:txBody>
          <a:bodyPr anchor="ctr">
            <a:normAutofit/>
          </a:bodyPr>
          <a:lstStyle/>
          <a:p>
            <a:r>
              <a:rPr lang="es-MX" sz="3600" dirty="0"/>
              <a:t>Tara </a:t>
            </a:r>
            <a:r>
              <a:rPr lang="es-MX" sz="3600" dirty="0" err="1"/>
              <a:t>McKeown</a:t>
            </a:r>
            <a:endParaRPr lang="es-MX" sz="3600" dirty="0"/>
          </a:p>
        </p:txBody>
      </p:sp>
      <p:sp>
        <p:nvSpPr>
          <p:cNvPr id="13" name="Content Placeholder 12">
            <a:extLst>
              <a:ext uri="{FF2B5EF4-FFF2-40B4-BE49-F238E27FC236}">
                <a16:creationId xmlns:a16="http://schemas.microsoft.com/office/drawing/2014/main" id="{BCD244AE-7DFF-7ABA-074D-6A86534290E4}"/>
              </a:ext>
            </a:extLst>
          </p:cNvPr>
          <p:cNvSpPr>
            <a:spLocks noGrp="1"/>
          </p:cNvSpPr>
          <p:nvPr>
            <p:ph idx="1"/>
          </p:nvPr>
        </p:nvSpPr>
        <p:spPr>
          <a:xfrm>
            <a:off x="1045029" y="2524721"/>
            <a:ext cx="4991629" cy="3677123"/>
          </a:xfrm>
        </p:spPr>
        <p:txBody>
          <a:bodyPr anchor="ctr">
            <a:normAutofit/>
          </a:bodyPr>
          <a:lstStyle/>
          <a:p>
            <a:r>
              <a:rPr lang="en-US" sz="1500"/>
              <a:t>Equipo: Washington Spirit</a:t>
            </a:r>
          </a:p>
          <a:p>
            <a:r>
              <a:rPr lang="en-US" sz="1500"/>
              <a:t>Nacionalidad: Estadounidense</a:t>
            </a:r>
          </a:p>
          <a:p>
            <a:r>
              <a:rPr lang="en-US" sz="1500"/>
              <a:t>Estatura: 1.70 metros</a:t>
            </a:r>
          </a:p>
          <a:p>
            <a:r>
              <a:rPr lang="en-US" sz="1500"/>
              <a:t>Edad: 26 años</a:t>
            </a:r>
          </a:p>
          <a:p>
            <a:r>
              <a:rPr lang="en-US" sz="1500"/>
              <a:t>Proactiva</a:t>
            </a:r>
          </a:p>
          <a:p>
            <a:r>
              <a:rPr lang="en-US" sz="1500"/>
              <a:t>Tiene un gran timing que colabora en sus intercepciones</a:t>
            </a:r>
          </a:p>
          <a:p>
            <a:r>
              <a:rPr lang="en-US" sz="1500"/>
              <a:t>Su Inteligencia ayuda a poder recuperar el balón, y díficilmente la pasan</a:t>
            </a:r>
          </a:p>
          <a:p>
            <a:r>
              <a:rPr lang="en-US" sz="1500"/>
              <a:t>Mantiene posesión</a:t>
            </a:r>
          </a:p>
          <a:p>
            <a:r>
              <a:rPr lang="en-US" sz="1500"/>
              <a:t>Buen juego aéreo</a:t>
            </a:r>
          </a:p>
          <a:p>
            <a:r>
              <a:rPr lang="en-US" sz="1500"/>
              <a:t>Rompe líneas</a:t>
            </a:r>
          </a:p>
        </p:txBody>
      </p:sp>
      <p:sp>
        <p:nvSpPr>
          <p:cNvPr id="57" name="Rectangle 56">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Marcador de contenido 8" descr="Gráfico, Gráfico radial&#10;&#10;Descripción generada automáticamente">
            <a:extLst>
              <a:ext uri="{FF2B5EF4-FFF2-40B4-BE49-F238E27FC236}">
                <a16:creationId xmlns:a16="http://schemas.microsoft.com/office/drawing/2014/main" id="{2B94C72D-EA41-43BC-8BAE-A0A9FC952EF8}"/>
              </a:ext>
            </a:extLst>
          </p:cNvPr>
          <p:cNvPicPr>
            <a:picLocks noChangeAspect="1"/>
          </p:cNvPicPr>
          <p:nvPr/>
        </p:nvPicPr>
        <p:blipFill>
          <a:blip r:embed="rId2">
            <a:extLst>
              <a:ext uri="{28A0092B-C50C-407E-A947-70E740481C1C}">
                <a14:useLocalDpi xmlns:a14="http://schemas.microsoft.com/office/drawing/2010/main" val="0"/>
              </a:ext>
            </a:extLst>
          </a:blip>
          <a:srcRect r="4" b="3065"/>
          <a:stretch>
            <a:fillRect/>
          </a:stretch>
        </p:blipFill>
        <p:spPr>
          <a:xfrm>
            <a:off x="6888952" y="873941"/>
            <a:ext cx="2049592" cy="1986852"/>
          </a:xfrm>
          <a:prstGeom prst="rect">
            <a:avLst/>
          </a:prstGeom>
        </p:spPr>
      </p:pic>
      <p:pic>
        <p:nvPicPr>
          <p:cNvPr id="5" name="Imagen 4">
            <a:extLst>
              <a:ext uri="{FF2B5EF4-FFF2-40B4-BE49-F238E27FC236}">
                <a16:creationId xmlns:a16="http://schemas.microsoft.com/office/drawing/2014/main" id="{B8210FFF-115E-497F-983D-EB15A52D4391}"/>
              </a:ext>
            </a:extLst>
          </p:cNvPr>
          <p:cNvPicPr>
            <a:picLocks noChangeAspect="1"/>
          </p:cNvPicPr>
          <p:nvPr/>
        </p:nvPicPr>
        <p:blipFill>
          <a:blip r:embed="rId3"/>
          <a:stretch>
            <a:fillRect/>
          </a:stretch>
        </p:blipFill>
        <p:spPr>
          <a:xfrm>
            <a:off x="9076116" y="873940"/>
            <a:ext cx="2064082" cy="1658033"/>
          </a:xfrm>
          <a:prstGeom prst="rect">
            <a:avLst/>
          </a:prstGeom>
        </p:spPr>
      </p:pic>
      <p:pic>
        <p:nvPicPr>
          <p:cNvPr id="14" name="table">
            <a:extLst>
              <a:ext uri="{FF2B5EF4-FFF2-40B4-BE49-F238E27FC236}">
                <a16:creationId xmlns:a16="http://schemas.microsoft.com/office/drawing/2014/main" id="{E7F0AD76-E4B0-42F7-9F0B-A3816FB883A2}"/>
              </a:ext>
            </a:extLst>
          </p:cNvPr>
          <p:cNvPicPr>
            <a:picLocks noChangeAspect="1"/>
          </p:cNvPicPr>
          <p:nvPr/>
        </p:nvPicPr>
        <p:blipFill>
          <a:blip r:embed="rId4"/>
          <a:stretch>
            <a:fillRect/>
          </a:stretch>
        </p:blipFill>
        <p:spPr>
          <a:xfrm>
            <a:off x="6881706" y="2992610"/>
            <a:ext cx="4258492" cy="2342875"/>
          </a:xfrm>
          <a:prstGeom prst="rect">
            <a:avLst/>
          </a:prstGeom>
        </p:spPr>
      </p:pic>
      <p:cxnSp>
        <p:nvCxnSpPr>
          <p:cNvPr id="59" name="Straight Connector 5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3106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4405390-A72B-44A9-A501-3123B6E8C514}"/>
              </a:ext>
            </a:extLst>
          </p:cNvPr>
          <p:cNvSpPr>
            <a:spLocks noGrp="1"/>
          </p:cNvSpPr>
          <p:nvPr>
            <p:ph type="title"/>
          </p:nvPr>
        </p:nvSpPr>
        <p:spPr>
          <a:xfrm>
            <a:off x="1057025" y="922644"/>
            <a:ext cx="5040285" cy="1169585"/>
          </a:xfrm>
        </p:spPr>
        <p:txBody>
          <a:bodyPr anchor="b">
            <a:normAutofit/>
          </a:bodyPr>
          <a:lstStyle/>
          <a:p>
            <a:r>
              <a:rPr lang="es-MX" sz="4000"/>
              <a:t>Núbia</a:t>
            </a:r>
            <a:r>
              <a:rPr lang="es-MX" sz="4000" dirty="0"/>
              <a:t> </a:t>
            </a:r>
            <a:r>
              <a:rPr lang="es-MX" sz="4000"/>
              <a:t>Lopes</a:t>
            </a:r>
            <a:endParaRPr lang="es-MX" sz="4000" dirty="0"/>
          </a:p>
        </p:txBody>
      </p:sp>
      <p:sp>
        <p:nvSpPr>
          <p:cNvPr id="35" name="Rectangle 34">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479A30BC-C86C-C2AB-94B5-17389A44D34D}"/>
              </a:ext>
            </a:extLst>
          </p:cNvPr>
          <p:cNvSpPr>
            <a:spLocks noGrp="1"/>
          </p:cNvSpPr>
          <p:nvPr>
            <p:ph idx="1"/>
          </p:nvPr>
        </p:nvSpPr>
        <p:spPr>
          <a:xfrm>
            <a:off x="1055715" y="2508105"/>
            <a:ext cx="5040285" cy="3632493"/>
          </a:xfrm>
        </p:spPr>
        <p:txBody>
          <a:bodyPr anchor="ctr">
            <a:normAutofit/>
          </a:bodyPr>
          <a:lstStyle/>
          <a:p>
            <a:r>
              <a:rPr lang="en-US" sz="1900"/>
              <a:t>Equipo: Flamengo</a:t>
            </a:r>
          </a:p>
          <a:p>
            <a:r>
              <a:rPr lang="en-US" sz="1900"/>
              <a:t>Nacionalidad: Brasileña </a:t>
            </a:r>
          </a:p>
          <a:p>
            <a:r>
              <a:rPr lang="en-US" sz="1900"/>
              <a:t>Edad: 22 años</a:t>
            </a:r>
          </a:p>
          <a:p>
            <a:r>
              <a:rPr lang="en-US" sz="1900"/>
              <a:t>Estatura: 1.96 m.</a:t>
            </a:r>
          </a:p>
          <a:p>
            <a:r>
              <a:rPr lang="en-US" sz="1900"/>
              <a:t>Su gran estatura la convierte en una jugadora interesante.</a:t>
            </a:r>
          </a:p>
          <a:p>
            <a:r>
              <a:rPr lang="en-US" sz="1900"/>
              <a:t>Dominancia aérea y balón parado</a:t>
            </a:r>
          </a:p>
          <a:p>
            <a:r>
              <a:rPr lang="en-US" sz="1900"/>
              <a:t>Complemento para una central Terrestre.</a:t>
            </a:r>
          </a:p>
          <a:p>
            <a:r>
              <a:rPr lang="en-US" sz="1900"/>
              <a:t>Inversión interesante para el futuro de la plantilla</a:t>
            </a:r>
          </a:p>
        </p:txBody>
      </p:sp>
      <p:pic>
        <p:nvPicPr>
          <p:cNvPr id="5" name="Marcador de contenido 4" descr="Gráfico, Gráfico radial&#10;&#10;Descripción generada automáticamente">
            <a:extLst>
              <a:ext uri="{FF2B5EF4-FFF2-40B4-BE49-F238E27FC236}">
                <a16:creationId xmlns:a16="http://schemas.microsoft.com/office/drawing/2014/main" id="{2C294ECE-4613-4F82-B21F-6CBFD55F7A05}"/>
              </a:ext>
            </a:extLst>
          </p:cNvPr>
          <p:cNvPicPr>
            <a:picLocks noChangeAspect="1"/>
          </p:cNvPicPr>
          <p:nvPr/>
        </p:nvPicPr>
        <p:blipFill>
          <a:blip r:embed="rId2">
            <a:extLst>
              <a:ext uri="{28A0092B-C50C-407E-A947-70E740481C1C}">
                <a14:useLocalDpi xmlns:a14="http://schemas.microsoft.com/office/drawing/2010/main" val="0"/>
              </a:ext>
            </a:extLst>
          </a:blip>
          <a:srcRect r="4" b="3065"/>
          <a:stretch>
            <a:fillRect/>
          </a:stretch>
        </p:blipFill>
        <p:spPr>
          <a:xfrm>
            <a:off x="7809886" y="774285"/>
            <a:ext cx="2662681" cy="2581173"/>
          </a:xfrm>
          <a:prstGeom prst="rect">
            <a:avLst/>
          </a:prstGeom>
        </p:spPr>
      </p:pic>
      <p:pic>
        <p:nvPicPr>
          <p:cNvPr id="4" name="Imagen 3">
            <a:extLst>
              <a:ext uri="{FF2B5EF4-FFF2-40B4-BE49-F238E27FC236}">
                <a16:creationId xmlns:a16="http://schemas.microsoft.com/office/drawing/2014/main" id="{37C0BC16-1A07-4215-BD0C-652C64BF9115}"/>
              </a:ext>
            </a:extLst>
          </p:cNvPr>
          <p:cNvPicPr>
            <a:picLocks noChangeAspect="1"/>
          </p:cNvPicPr>
          <p:nvPr/>
        </p:nvPicPr>
        <p:blipFill>
          <a:blip r:embed="rId3"/>
          <a:stretch>
            <a:fillRect/>
          </a:stretch>
        </p:blipFill>
        <p:spPr>
          <a:xfrm>
            <a:off x="7727727" y="3575074"/>
            <a:ext cx="2826999" cy="2581173"/>
          </a:xfrm>
          <a:prstGeom prst="rect">
            <a:avLst/>
          </a:prstGeom>
        </p:spPr>
      </p:pic>
    </p:spTree>
    <p:extLst>
      <p:ext uri="{BB962C8B-B14F-4D97-AF65-F5344CB8AC3E}">
        <p14:creationId xmlns:p14="http://schemas.microsoft.com/office/powerpoint/2010/main" val="377048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1A5FCD-B7B2-4EE3-B75C-E3A61AD4C133}"/>
              </a:ext>
            </a:extLst>
          </p:cNvPr>
          <p:cNvSpPr>
            <a:spLocks noGrp="1"/>
          </p:cNvSpPr>
          <p:nvPr>
            <p:ph type="title"/>
          </p:nvPr>
        </p:nvSpPr>
        <p:spPr>
          <a:xfrm>
            <a:off x="762000" y="1138036"/>
            <a:ext cx="9058195" cy="1048901"/>
          </a:xfrm>
        </p:spPr>
        <p:txBody>
          <a:bodyPr anchor="t">
            <a:normAutofit/>
          </a:bodyPr>
          <a:lstStyle/>
          <a:p>
            <a:r>
              <a:rPr lang="es-MX" sz="3200"/>
              <a:t>Ana Mendoza Mexicana sub 23</a:t>
            </a:r>
          </a:p>
        </p:txBody>
      </p:sp>
      <p:cxnSp>
        <p:nvCxnSpPr>
          <p:cNvPr id="27" name="Straight Connector 26">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69B2C337-F9CE-42D2-B66D-4A5B6D4023CD}"/>
              </a:ext>
            </a:extLst>
          </p:cNvPr>
          <p:cNvPicPr>
            <a:picLocks noChangeAspect="1"/>
          </p:cNvPicPr>
          <p:nvPr/>
        </p:nvPicPr>
        <p:blipFill>
          <a:blip r:embed="rId2"/>
          <a:srcRect r="-1" b="12695"/>
          <a:stretch>
            <a:fillRect/>
          </a:stretch>
        </p:blipFill>
        <p:spPr>
          <a:xfrm>
            <a:off x="862067" y="2400904"/>
            <a:ext cx="3221983" cy="3585950"/>
          </a:xfrm>
          <a:prstGeom prst="rect">
            <a:avLst/>
          </a:prstGeom>
        </p:spPr>
      </p:pic>
      <p:pic>
        <p:nvPicPr>
          <p:cNvPr id="7" name="Marcador de contenido 6" descr="Gráfico, Gráfico radial&#10;&#10;Descripción generada automáticamente">
            <a:extLst>
              <a:ext uri="{FF2B5EF4-FFF2-40B4-BE49-F238E27FC236}">
                <a16:creationId xmlns:a16="http://schemas.microsoft.com/office/drawing/2014/main" id="{C5565D2C-4A72-4AEA-9A7C-C72EEB410E02}"/>
              </a:ext>
            </a:extLst>
          </p:cNvPr>
          <p:cNvPicPr>
            <a:picLocks noChangeAspect="1"/>
          </p:cNvPicPr>
          <p:nvPr/>
        </p:nvPicPr>
        <p:blipFill>
          <a:blip r:embed="rId3">
            <a:extLst>
              <a:ext uri="{28A0092B-C50C-407E-A947-70E740481C1C}">
                <a14:useLocalDpi xmlns:a14="http://schemas.microsoft.com/office/drawing/2010/main" val="0"/>
              </a:ext>
            </a:extLst>
          </a:blip>
          <a:srcRect l="6196" r="6387" b="1"/>
          <a:stretch>
            <a:fillRect/>
          </a:stretch>
        </p:blipFill>
        <p:spPr>
          <a:xfrm>
            <a:off x="4151167" y="2400903"/>
            <a:ext cx="3134800" cy="3585950"/>
          </a:xfrm>
          <a:prstGeom prst="rect">
            <a:avLst/>
          </a:prstGeom>
        </p:spPr>
      </p:pic>
      <p:sp>
        <p:nvSpPr>
          <p:cNvPr id="11" name="Content Placeholder 10">
            <a:extLst>
              <a:ext uri="{FF2B5EF4-FFF2-40B4-BE49-F238E27FC236}">
                <a16:creationId xmlns:a16="http://schemas.microsoft.com/office/drawing/2014/main" id="{AA2080C4-682F-E9DD-0CE2-6564A88225E7}"/>
              </a:ext>
            </a:extLst>
          </p:cNvPr>
          <p:cNvSpPr>
            <a:spLocks noGrp="1"/>
          </p:cNvSpPr>
          <p:nvPr>
            <p:ph idx="1"/>
          </p:nvPr>
        </p:nvSpPr>
        <p:spPr>
          <a:xfrm>
            <a:off x="7890387" y="2321168"/>
            <a:ext cx="3408983" cy="3821215"/>
          </a:xfrm>
        </p:spPr>
        <p:txBody>
          <a:bodyPr>
            <a:normAutofit/>
          </a:bodyPr>
          <a:lstStyle/>
          <a:p>
            <a:r>
              <a:rPr lang="en-US" sz="2000" dirty="0" err="1"/>
              <a:t>Dominancia</a:t>
            </a:r>
            <a:r>
              <a:rPr lang="en-US" sz="2000" dirty="0"/>
              <a:t> </a:t>
            </a:r>
            <a:r>
              <a:rPr lang="en-US" sz="2000" dirty="0" err="1"/>
              <a:t>en</a:t>
            </a:r>
            <a:r>
              <a:rPr lang="en-US" sz="2000" dirty="0"/>
              <a:t> </a:t>
            </a:r>
            <a:r>
              <a:rPr lang="en-US" sz="2000" dirty="0" err="1"/>
              <a:t>acciones</a:t>
            </a:r>
            <a:r>
              <a:rPr lang="en-US" sz="2000" dirty="0"/>
              <a:t> </a:t>
            </a:r>
            <a:r>
              <a:rPr lang="en-US" sz="2000" dirty="0" err="1"/>
              <a:t>defensivas</a:t>
            </a:r>
            <a:r>
              <a:rPr lang="en-US" sz="2000" dirty="0"/>
              <a:t> finales</a:t>
            </a:r>
          </a:p>
          <a:p>
            <a:r>
              <a:rPr lang="en-US" sz="2000" dirty="0"/>
              <a:t>Buena </a:t>
            </a:r>
            <a:r>
              <a:rPr lang="en-US" sz="2000" dirty="0" err="1"/>
              <a:t>salida</a:t>
            </a:r>
            <a:endParaRPr lang="en-US" sz="2000" dirty="0"/>
          </a:p>
          <a:p>
            <a:r>
              <a:rPr lang="en-US" sz="2000" dirty="0" err="1"/>
              <a:t>Buen</a:t>
            </a:r>
            <a:r>
              <a:rPr lang="en-US" sz="2000" dirty="0"/>
              <a:t> Timing</a:t>
            </a:r>
          </a:p>
          <a:p>
            <a:r>
              <a:rPr lang="en-US" sz="2000" dirty="0" err="1"/>
              <a:t>Debilidades</a:t>
            </a:r>
            <a:r>
              <a:rPr lang="en-US" sz="2000" dirty="0"/>
              <a:t>: </a:t>
            </a:r>
            <a:r>
              <a:rPr lang="en-US" sz="2000" dirty="0" err="1"/>
              <a:t>Falla</a:t>
            </a:r>
            <a:r>
              <a:rPr lang="en-US" sz="2000" dirty="0"/>
              <a:t> </a:t>
            </a:r>
            <a:r>
              <a:rPr lang="en-US" sz="2000" dirty="0" err="1"/>
              <a:t>en</a:t>
            </a:r>
            <a:r>
              <a:rPr lang="en-US" sz="2000" dirty="0"/>
              <a:t> las </a:t>
            </a:r>
            <a:r>
              <a:rPr lang="en-US" sz="2000" dirty="0" err="1"/>
              <a:t>salidas</a:t>
            </a:r>
            <a:endParaRPr lang="en-US" sz="2000" dirty="0"/>
          </a:p>
          <a:p>
            <a:r>
              <a:rPr lang="en-US" sz="2000" dirty="0" err="1"/>
              <a:t>Ventaja</a:t>
            </a:r>
            <a:r>
              <a:rPr lang="en-US" sz="2000" dirty="0"/>
              <a:t>: Es un </a:t>
            </a:r>
            <a:r>
              <a:rPr lang="en-US" sz="2000" dirty="0" err="1"/>
              <a:t>talento</a:t>
            </a:r>
            <a:r>
              <a:rPr lang="en-US" sz="2000" dirty="0"/>
              <a:t> </a:t>
            </a:r>
            <a:r>
              <a:rPr lang="en-US" sz="2000" dirty="0" err="1"/>
              <a:t>joven</a:t>
            </a:r>
            <a:r>
              <a:rPr lang="en-US" sz="2000" dirty="0"/>
              <a:t> con gran </a:t>
            </a:r>
            <a:r>
              <a:rPr lang="en-US" sz="2000" dirty="0" err="1"/>
              <a:t>potencial</a:t>
            </a:r>
            <a:endParaRPr lang="en-US" sz="2000" dirty="0"/>
          </a:p>
        </p:txBody>
      </p:sp>
    </p:spTree>
    <p:extLst>
      <p:ext uri="{BB962C8B-B14F-4D97-AF65-F5344CB8AC3E}">
        <p14:creationId xmlns:p14="http://schemas.microsoft.com/office/powerpoint/2010/main" val="3251633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8CBDF2C-6A39-4E87-879D-BF8F58D8E773}"/>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Delanteras</a:t>
            </a:r>
            <a:endParaRPr lang="en-US" sz="7200" kern="1200" dirty="0">
              <a:solidFill>
                <a:schemeClr val="tx1"/>
              </a:solidFill>
              <a:latin typeface="+mj-lt"/>
              <a:ea typeface="+mj-ea"/>
              <a:cs typeface="+mj-cs"/>
            </a:endParaRP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355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BDF1A630-2A9B-41A0-92F9-FDA26107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 name="Group 8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86" name="Rectangle 8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9" name="Rectangle 8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9EBD1CF-1DD0-41D4-A423-0698D915EAED}"/>
              </a:ext>
            </a:extLst>
          </p:cNvPr>
          <p:cNvSpPr>
            <a:spLocks noGrp="1"/>
          </p:cNvSpPr>
          <p:nvPr>
            <p:ph type="title"/>
          </p:nvPr>
        </p:nvSpPr>
        <p:spPr>
          <a:xfrm>
            <a:off x="1057025" y="922644"/>
            <a:ext cx="5040285" cy="1169585"/>
          </a:xfrm>
        </p:spPr>
        <p:txBody>
          <a:bodyPr anchor="b">
            <a:normAutofit/>
          </a:bodyPr>
          <a:lstStyle/>
          <a:p>
            <a:r>
              <a:rPr lang="es-MX" sz="3700"/>
              <a:t>Leticia Ferreira Moreno Santos</a:t>
            </a:r>
          </a:p>
        </p:txBody>
      </p:sp>
      <p:sp>
        <p:nvSpPr>
          <p:cNvPr id="91" name="Rectangle 9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0C3EA63E-08FD-BC30-A1BF-6D799D2951FA}"/>
              </a:ext>
            </a:extLst>
          </p:cNvPr>
          <p:cNvSpPr>
            <a:spLocks noGrp="1"/>
          </p:cNvSpPr>
          <p:nvPr>
            <p:ph idx="1"/>
          </p:nvPr>
        </p:nvSpPr>
        <p:spPr>
          <a:xfrm>
            <a:off x="1055715" y="2508105"/>
            <a:ext cx="5040285" cy="3632493"/>
          </a:xfrm>
        </p:spPr>
        <p:txBody>
          <a:bodyPr anchor="ctr">
            <a:normAutofit fontScale="85000" lnSpcReduction="10000"/>
          </a:bodyPr>
          <a:lstStyle/>
          <a:p>
            <a:r>
              <a:rPr lang="es-MX" sz="1900" dirty="0"/>
              <a:t>Club: Cruzeiro</a:t>
            </a:r>
          </a:p>
          <a:p>
            <a:r>
              <a:rPr lang="es-MX" sz="1900" dirty="0"/>
              <a:t>Edad: 24 años</a:t>
            </a:r>
          </a:p>
          <a:p>
            <a:r>
              <a:rPr lang="es-MX" sz="1900" dirty="0"/>
              <a:t>Estatura: 1.68 m</a:t>
            </a:r>
          </a:p>
          <a:p>
            <a:r>
              <a:rPr lang="es-MX" sz="1900" dirty="0"/>
              <a:t>Creación y último pase: un KP/90 competitivo respalda que puede generar ventajas en ¾, descargar a tiempo y habilitar rupturas de la otra punta o de la interior.</a:t>
            </a:r>
          </a:p>
          <a:p>
            <a:r>
              <a:rPr lang="es-MX" sz="1900" dirty="0"/>
              <a:t>Amenaza aérea secundaria: ADW/90 por encima de la media suma en segundas jugadas y ABP ofensiva</a:t>
            </a:r>
          </a:p>
          <a:p>
            <a:r>
              <a:rPr lang="es-MX" sz="1900" dirty="0"/>
              <a:t>Llega con frecuencia y calidad al remate y puede usarse como 9 móvil</a:t>
            </a:r>
          </a:p>
          <a:p>
            <a:r>
              <a:rPr lang="es-MX" sz="1900" dirty="0"/>
              <a:t>Puede jugar por fuera o por dentro. Excelente para presión alta y transiciones rápidas que es lo que necesita América.</a:t>
            </a:r>
          </a:p>
        </p:txBody>
      </p:sp>
      <p:pic>
        <p:nvPicPr>
          <p:cNvPr id="8" name="Imagen 7" descr="Gráfico, Gráfico radial&#10;&#10;Descripción generada automáticamente">
            <a:extLst>
              <a:ext uri="{FF2B5EF4-FFF2-40B4-BE49-F238E27FC236}">
                <a16:creationId xmlns:a16="http://schemas.microsoft.com/office/drawing/2014/main" id="{E7C4E32F-3D64-4F9E-9ACE-D8B311AFDB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2961" y="774285"/>
            <a:ext cx="1999673" cy="1999673"/>
          </a:xfrm>
          <a:prstGeom prst="rect">
            <a:avLst/>
          </a:prstGeom>
        </p:spPr>
      </p:pic>
      <p:pic>
        <p:nvPicPr>
          <p:cNvPr id="11" name="Imagen 10">
            <a:extLst>
              <a:ext uri="{FF2B5EF4-FFF2-40B4-BE49-F238E27FC236}">
                <a16:creationId xmlns:a16="http://schemas.microsoft.com/office/drawing/2014/main" id="{F3FC2520-7988-48C9-835F-CF616FA64A26}"/>
              </a:ext>
            </a:extLst>
          </p:cNvPr>
          <p:cNvPicPr>
            <a:picLocks noChangeAspect="1"/>
          </p:cNvPicPr>
          <p:nvPr/>
        </p:nvPicPr>
        <p:blipFill>
          <a:blip r:embed="rId3"/>
          <a:stretch>
            <a:fillRect/>
          </a:stretch>
        </p:blipFill>
        <p:spPr>
          <a:xfrm>
            <a:off x="9223523" y="1032357"/>
            <a:ext cx="2112264" cy="1483529"/>
          </a:xfrm>
          <a:prstGeom prst="rect">
            <a:avLst/>
          </a:prstGeom>
        </p:spPr>
      </p:pic>
      <p:pic>
        <p:nvPicPr>
          <p:cNvPr id="32" name="table">
            <a:extLst>
              <a:ext uri="{FF2B5EF4-FFF2-40B4-BE49-F238E27FC236}">
                <a16:creationId xmlns:a16="http://schemas.microsoft.com/office/drawing/2014/main" id="{7CF70943-5920-4C8B-98DB-45438E375BC3}"/>
              </a:ext>
            </a:extLst>
          </p:cNvPr>
          <p:cNvPicPr>
            <a:picLocks noChangeAspect="1"/>
          </p:cNvPicPr>
          <p:nvPr/>
        </p:nvPicPr>
        <p:blipFill>
          <a:blip r:embed="rId4"/>
          <a:stretch>
            <a:fillRect/>
          </a:stretch>
        </p:blipFill>
        <p:spPr>
          <a:xfrm>
            <a:off x="6946667" y="3568404"/>
            <a:ext cx="4389120" cy="1962142"/>
          </a:xfrm>
          <a:prstGeom prst="rect">
            <a:avLst/>
          </a:prstGeom>
        </p:spPr>
      </p:pic>
    </p:spTree>
    <p:extLst>
      <p:ext uri="{BB962C8B-B14F-4D97-AF65-F5344CB8AC3E}">
        <p14:creationId xmlns:p14="http://schemas.microsoft.com/office/powerpoint/2010/main" val="4021817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DF1A630-2A9B-41A0-92F9-FDA26107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76" name="Rectangle 7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Rectangle 7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8385F84-EE60-4500-B893-59A0CBF82B5E}"/>
              </a:ext>
            </a:extLst>
          </p:cNvPr>
          <p:cNvSpPr>
            <a:spLocks noGrp="1"/>
          </p:cNvSpPr>
          <p:nvPr>
            <p:ph type="title"/>
          </p:nvPr>
        </p:nvSpPr>
        <p:spPr>
          <a:xfrm>
            <a:off x="1057025" y="922644"/>
            <a:ext cx="5040285" cy="1169585"/>
          </a:xfrm>
        </p:spPr>
        <p:txBody>
          <a:bodyPr anchor="b">
            <a:normAutofit/>
          </a:bodyPr>
          <a:lstStyle/>
          <a:p>
            <a:r>
              <a:rPr lang="es-MX" sz="4000" dirty="0"/>
              <a:t>Kayla McCoy</a:t>
            </a:r>
          </a:p>
        </p:txBody>
      </p:sp>
      <p:sp>
        <p:nvSpPr>
          <p:cNvPr id="81" name="Rectangle 8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2BC89D74-DD96-F393-72C2-1FE09FD03775}"/>
              </a:ext>
            </a:extLst>
          </p:cNvPr>
          <p:cNvSpPr>
            <a:spLocks noGrp="1"/>
          </p:cNvSpPr>
          <p:nvPr>
            <p:ph idx="1"/>
          </p:nvPr>
        </p:nvSpPr>
        <p:spPr>
          <a:xfrm>
            <a:off x="1055715" y="2508105"/>
            <a:ext cx="5040285" cy="3632493"/>
          </a:xfrm>
        </p:spPr>
        <p:txBody>
          <a:bodyPr anchor="ctr">
            <a:normAutofit/>
          </a:bodyPr>
          <a:lstStyle/>
          <a:p>
            <a:r>
              <a:rPr lang="es-MX" sz="1400"/>
              <a:t>Seleccionada de Jamaica nacida en USA</a:t>
            </a:r>
          </a:p>
          <a:p>
            <a:r>
              <a:rPr lang="es-MX" sz="1400"/>
              <a:t>Club: Madrid CCF</a:t>
            </a:r>
          </a:p>
          <a:p>
            <a:r>
              <a:rPr lang="es-MX" sz="1400"/>
              <a:t>Edad: 29 años</a:t>
            </a:r>
          </a:p>
          <a:p>
            <a:r>
              <a:rPr lang="es-MX" sz="1400"/>
              <a:t>Estatura: 1.68 m</a:t>
            </a:r>
          </a:p>
          <a:p>
            <a:r>
              <a:rPr lang="es-MX" sz="1400"/>
              <a:t>Finalización: G/90 y Conversión fuertes; convierte cerca del arco.</a:t>
            </a:r>
          </a:p>
          <a:p>
            <a:r>
              <a:rPr lang="es-MX" sz="1400"/>
              <a:t>Aéreo: ADW/90 destacado: suma en ABP y como referencia para centros/largos.</a:t>
            </a:r>
          </a:p>
          <a:p>
            <a:r>
              <a:rPr lang="es-MX" sz="1400"/>
              <a:t>Plan de uso: 9 de referencia para partidos donde América cargue área y necesite remate y segundas jugadas.</a:t>
            </a:r>
          </a:p>
          <a:p>
            <a:endParaRPr lang="es-MX" sz="1400"/>
          </a:p>
          <a:p>
            <a:r>
              <a:rPr lang="es-MX" sz="1400"/>
              <a:t>Fortalezas: Remate aéreo, finalizadora</a:t>
            </a:r>
            <a:endParaRPr lang="en-US" sz="1400"/>
          </a:p>
        </p:txBody>
      </p:sp>
      <p:pic>
        <p:nvPicPr>
          <p:cNvPr id="5" name="Marcador de contenido 4" descr="Gráfico, Gráfico radial&#10;&#10;Descripción generada automáticamente">
            <a:extLst>
              <a:ext uri="{FF2B5EF4-FFF2-40B4-BE49-F238E27FC236}">
                <a16:creationId xmlns:a16="http://schemas.microsoft.com/office/drawing/2014/main" id="{B9B992CF-3DD8-4C9D-8BE9-353B94C0D21E}"/>
              </a:ext>
            </a:extLst>
          </p:cNvPr>
          <p:cNvPicPr>
            <a:picLocks noChangeAspect="1"/>
          </p:cNvPicPr>
          <p:nvPr/>
        </p:nvPicPr>
        <p:blipFill>
          <a:blip r:embed="rId2">
            <a:extLst>
              <a:ext uri="{28A0092B-C50C-407E-A947-70E740481C1C}">
                <a14:useLocalDpi xmlns:a14="http://schemas.microsoft.com/office/drawing/2010/main" val="0"/>
              </a:ext>
            </a:extLst>
          </a:blip>
          <a:srcRect r="6" b="5336"/>
          <a:stretch>
            <a:fillRect/>
          </a:stretch>
        </p:blipFill>
        <p:spPr>
          <a:xfrm>
            <a:off x="6946666" y="774285"/>
            <a:ext cx="2112263" cy="1999673"/>
          </a:xfrm>
          <a:prstGeom prst="rect">
            <a:avLst/>
          </a:prstGeom>
        </p:spPr>
      </p:pic>
      <p:pic>
        <p:nvPicPr>
          <p:cNvPr id="4" name="Imagen 3">
            <a:extLst>
              <a:ext uri="{FF2B5EF4-FFF2-40B4-BE49-F238E27FC236}">
                <a16:creationId xmlns:a16="http://schemas.microsoft.com/office/drawing/2014/main" id="{4F583F8F-3853-4041-A2B2-B459798C94DF}"/>
              </a:ext>
            </a:extLst>
          </p:cNvPr>
          <p:cNvPicPr>
            <a:picLocks noChangeAspect="1"/>
          </p:cNvPicPr>
          <p:nvPr/>
        </p:nvPicPr>
        <p:blipFill>
          <a:blip r:embed="rId3"/>
          <a:srcRect l="6674" r="2672" b="8"/>
          <a:stretch>
            <a:fillRect/>
          </a:stretch>
        </p:blipFill>
        <p:spPr>
          <a:xfrm>
            <a:off x="9223525" y="774285"/>
            <a:ext cx="2112259" cy="1999673"/>
          </a:xfrm>
          <a:prstGeom prst="rect">
            <a:avLst/>
          </a:prstGeom>
        </p:spPr>
      </p:pic>
      <p:pic>
        <p:nvPicPr>
          <p:cNvPr id="13" name="table">
            <a:extLst>
              <a:ext uri="{FF2B5EF4-FFF2-40B4-BE49-F238E27FC236}">
                <a16:creationId xmlns:a16="http://schemas.microsoft.com/office/drawing/2014/main" id="{0E4FCADF-5ED1-4423-91A4-D8814C47A200}"/>
              </a:ext>
            </a:extLst>
          </p:cNvPr>
          <p:cNvPicPr>
            <a:picLocks noChangeAspect="1"/>
          </p:cNvPicPr>
          <p:nvPr/>
        </p:nvPicPr>
        <p:blipFill>
          <a:blip r:embed="rId4"/>
          <a:srcRect l="10305" r="23586" b="-2"/>
          <a:stretch>
            <a:fillRect/>
          </a:stretch>
        </p:blipFill>
        <p:spPr>
          <a:xfrm>
            <a:off x="6946667" y="2942709"/>
            <a:ext cx="4389120" cy="3213532"/>
          </a:xfrm>
          <a:prstGeom prst="rect">
            <a:avLst/>
          </a:prstGeom>
        </p:spPr>
      </p:pic>
    </p:spTree>
    <p:extLst>
      <p:ext uri="{BB962C8B-B14F-4D97-AF65-F5344CB8AC3E}">
        <p14:creationId xmlns:p14="http://schemas.microsoft.com/office/powerpoint/2010/main" val="1901337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DF1A630-2A9B-41A0-92F9-FDA26107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7" name="Rectangle 4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Rectangle 4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AF382BC-389D-4B7A-AA1D-24F95E76D27D}"/>
              </a:ext>
            </a:extLst>
          </p:cNvPr>
          <p:cNvSpPr>
            <a:spLocks noGrp="1"/>
          </p:cNvSpPr>
          <p:nvPr>
            <p:ph type="title"/>
          </p:nvPr>
        </p:nvSpPr>
        <p:spPr>
          <a:xfrm>
            <a:off x="1057025" y="922644"/>
            <a:ext cx="5040285" cy="1169585"/>
          </a:xfrm>
        </p:spPr>
        <p:txBody>
          <a:bodyPr anchor="b">
            <a:normAutofit/>
          </a:bodyPr>
          <a:lstStyle/>
          <a:p>
            <a:r>
              <a:rPr lang="es-MX" sz="4000" dirty="0"/>
              <a:t>Paulina </a:t>
            </a:r>
            <a:r>
              <a:rPr lang="es-MX" sz="4000"/>
              <a:t>Gramaglia</a:t>
            </a:r>
            <a:endParaRPr lang="es-MX" sz="4000" dirty="0"/>
          </a:p>
        </p:txBody>
      </p:sp>
      <p:sp>
        <p:nvSpPr>
          <p:cNvPr id="52" name="Rectangle 5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2A6ED570-74E5-7FBD-6AB3-9354C7F5AB02}"/>
              </a:ext>
            </a:extLst>
          </p:cNvPr>
          <p:cNvSpPr>
            <a:spLocks noGrp="1"/>
          </p:cNvSpPr>
          <p:nvPr>
            <p:ph idx="1"/>
          </p:nvPr>
        </p:nvSpPr>
        <p:spPr>
          <a:xfrm>
            <a:off x="1055715" y="2508105"/>
            <a:ext cx="5040285" cy="3632493"/>
          </a:xfrm>
        </p:spPr>
        <p:txBody>
          <a:bodyPr anchor="ctr">
            <a:normAutofit/>
          </a:bodyPr>
          <a:lstStyle/>
          <a:p>
            <a:r>
              <a:rPr lang="es-MX" sz="1400" dirty="0"/>
              <a:t>Visión: KP/90 y participación en preparación por encima de la media; no es solo finalizadora.</a:t>
            </a:r>
            <a:endParaRPr lang="en-US" sz="1400"/>
          </a:p>
          <a:p>
            <a:r>
              <a:rPr lang="es-MX" sz="1400" dirty="0"/>
              <a:t>Visión: KP/90 y participación en preparación por encima de la media; no es solo finalizadora.</a:t>
            </a:r>
            <a:endParaRPr lang="en-US" sz="1400"/>
          </a:p>
          <a:p>
            <a:r>
              <a:rPr lang="es-MX" sz="1400" dirty="0"/>
              <a:t>Plan de uso: 9 asociativa o interior que pisa área; encaja si quieres retener balón en ¾ y conectar con extremos profundas</a:t>
            </a:r>
            <a:endParaRPr lang="en-US" sz="1400"/>
          </a:p>
          <a:p>
            <a:r>
              <a:rPr lang="es-MX" sz="1400" dirty="0"/>
              <a:t>Ventaja: perfil joven con margen de crecimiento y valor de reventa.</a:t>
            </a:r>
          </a:p>
          <a:p>
            <a:endParaRPr lang="es-MX" sz="1400" dirty="0"/>
          </a:p>
          <a:p>
            <a:r>
              <a:rPr lang="es-MX" sz="1400" dirty="0"/>
              <a:t>RB </a:t>
            </a:r>
            <a:r>
              <a:rPr lang="es-MX" sz="1400"/>
              <a:t>Bragantino</a:t>
            </a:r>
            <a:r>
              <a:rPr lang="es-MX" sz="1400" dirty="0"/>
              <a:t> , al parecer se acaba de incorporar a Tenerife por lo que no sería viable en este momento.</a:t>
            </a:r>
          </a:p>
          <a:p>
            <a:r>
              <a:rPr lang="es-MX" sz="1400" dirty="0"/>
              <a:t>Nacionalidad: Argentina </a:t>
            </a:r>
          </a:p>
          <a:p>
            <a:r>
              <a:rPr lang="es-MX" sz="1400" dirty="0"/>
              <a:t>Edad: 22 años</a:t>
            </a:r>
            <a:endParaRPr lang="en-US" sz="1400"/>
          </a:p>
        </p:txBody>
      </p:sp>
      <p:pic>
        <p:nvPicPr>
          <p:cNvPr id="5" name="Marcador de contenido 4" descr="Gráfico, Gráfico radial&#10;&#10;Descripción generada automáticamente">
            <a:extLst>
              <a:ext uri="{FF2B5EF4-FFF2-40B4-BE49-F238E27FC236}">
                <a16:creationId xmlns:a16="http://schemas.microsoft.com/office/drawing/2014/main" id="{8D6C256B-665C-4497-8EF8-CF4F88CB8A9C}"/>
              </a:ext>
            </a:extLst>
          </p:cNvPr>
          <p:cNvPicPr>
            <a:picLocks noChangeAspect="1"/>
          </p:cNvPicPr>
          <p:nvPr/>
        </p:nvPicPr>
        <p:blipFill>
          <a:blip r:embed="rId2">
            <a:extLst>
              <a:ext uri="{28A0092B-C50C-407E-A947-70E740481C1C}">
                <a14:useLocalDpi xmlns:a14="http://schemas.microsoft.com/office/drawing/2010/main" val="0"/>
              </a:ext>
            </a:extLst>
          </a:blip>
          <a:srcRect r="4" b="3065"/>
          <a:stretch>
            <a:fillRect/>
          </a:stretch>
        </p:blipFill>
        <p:spPr>
          <a:xfrm>
            <a:off x="6971389" y="774285"/>
            <a:ext cx="2062818" cy="1999673"/>
          </a:xfrm>
          <a:prstGeom prst="rect">
            <a:avLst/>
          </a:prstGeom>
        </p:spPr>
      </p:pic>
      <p:pic>
        <p:nvPicPr>
          <p:cNvPr id="4" name="Imagen 3">
            <a:extLst>
              <a:ext uri="{FF2B5EF4-FFF2-40B4-BE49-F238E27FC236}">
                <a16:creationId xmlns:a16="http://schemas.microsoft.com/office/drawing/2014/main" id="{5AC96E93-1934-4AEF-8618-5B385357A60A}"/>
              </a:ext>
            </a:extLst>
          </p:cNvPr>
          <p:cNvPicPr>
            <a:picLocks noChangeAspect="1"/>
          </p:cNvPicPr>
          <p:nvPr/>
        </p:nvPicPr>
        <p:blipFill>
          <a:blip r:embed="rId3"/>
          <a:stretch>
            <a:fillRect/>
          </a:stretch>
        </p:blipFill>
        <p:spPr>
          <a:xfrm>
            <a:off x="9223523" y="815981"/>
            <a:ext cx="2112264" cy="1916280"/>
          </a:xfrm>
          <a:prstGeom prst="rect">
            <a:avLst/>
          </a:prstGeom>
        </p:spPr>
      </p:pic>
      <p:pic>
        <p:nvPicPr>
          <p:cNvPr id="13" name="table">
            <a:extLst>
              <a:ext uri="{FF2B5EF4-FFF2-40B4-BE49-F238E27FC236}">
                <a16:creationId xmlns:a16="http://schemas.microsoft.com/office/drawing/2014/main" id="{BCA0F98C-0EE5-4597-8892-AC5C2F63886E}"/>
              </a:ext>
            </a:extLst>
          </p:cNvPr>
          <p:cNvPicPr>
            <a:picLocks noChangeAspect="1"/>
          </p:cNvPicPr>
          <p:nvPr/>
        </p:nvPicPr>
        <p:blipFill>
          <a:blip r:embed="rId4"/>
          <a:stretch>
            <a:fillRect/>
          </a:stretch>
        </p:blipFill>
        <p:spPr>
          <a:xfrm>
            <a:off x="6946667" y="3487279"/>
            <a:ext cx="4389120" cy="2124392"/>
          </a:xfrm>
          <a:prstGeom prst="rect">
            <a:avLst/>
          </a:prstGeom>
        </p:spPr>
      </p:pic>
    </p:spTree>
    <p:extLst>
      <p:ext uri="{BB962C8B-B14F-4D97-AF65-F5344CB8AC3E}">
        <p14:creationId xmlns:p14="http://schemas.microsoft.com/office/powerpoint/2010/main" val="191394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BDF1A630-2A9B-41A0-92F9-FDA26107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6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67" name="Rectangle 6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8F17C54-8B81-4652-9181-BB77218B0543}"/>
              </a:ext>
            </a:extLst>
          </p:cNvPr>
          <p:cNvSpPr>
            <a:spLocks noGrp="1"/>
          </p:cNvSpPr>
          <p:nvPr>
            <p:ph type="title"/>
          </p:nvPr>
        </p:nvSpPr>
        <p:spPr>
          <a:xfrm>
            <a:off x="1057025" y="922644"/>
            <a:ext cx="5040285" cy="1169585"/>
          </a:xfrm>
        </p:spPr>
        <p:txBody>
          <a:bodyPr vert="horz" lIns="91440" tIns="45720" rIns="91440" bIns="45720" rtlCol="0" anchor="b">
            <a:normAutofit/>
          </a:bodyPr>
          <a:lstStyle/>
          <a:p>
            <a:r>
              <a:rPr lang="en-US" sz="3700" kern="1200">
                <a:latin typeface="+mj-lt"/>
                <a:ea typeface="+mj-ea"/>
                <a:cs typeface="+mj-cs"/>
              </a:rPr>
              <a:t>Paola García Sub 23 Mexicana</a:t>
            </a:r>
          </a:p>
        </p:txBody>
      </p:sp>
      <p:sp>
        <p:nvSpPr>
          <p:cNvPr id="72" name="Rectangle 7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9181520-80C4-498D-94CC-638702FA5101}"/>
              </a:ext>
            </a:extLst>
          </p:cNvPr>
          <p:cNvSpPr>
            <a:spLocks noGrp="1"/>
          </p:cNvSpPr>
          <p:nvPr>
            <p:ph idx="1"/>
          </p:nvPr>
        </p:nvSpPr>
        <p:spPr>
          <a:xfrm>
            <a:off x="1055715" y="2508105"/>
            <a:ext cx="5040285" cy="3632493"/>
          </a:xfrm>
        </p:spPr>
        <p:txBody>
          <a:bodyPr vert="horz" lIns="91440" tIns="45720" rIns="91440" bIns="45720" rtlCol="0" anchor="ctr">
            <a:normAutofit lnSpcReduction="10000"/>
          </a:bodyPr>
          <a:lstStyle/>
          <a:p>
            <a:pPr marL="0" indent="0">
              <a:buNone/>
            </a:pPr>
            <a:r>
              <a:rPr lang="en-US" sz="2000" dirty="0"/>
              <a:t>Es una 9 </a:t>
            </a:r>
            <a:r>
              <a:rPr lang="en-US" sz="2000" dirty="0" err="1"/>
              <a:t>móvil</a:t>
            </a:r>
            <a:r>
              <a:rPr lang="en-US" sz="2000" dirty="0"/>
              <a:t>, </a:t>
            </a:r>
            <a:r>
              <a:rPr lang="en-US" sz="2000" dirty="0" err="1"/>
              <a:t>podría</a:t>
            </a:r>
            <a:r>
              <a:rPr lang="en-US" sz="2000" dirty="0"/>
              <a:t> </a:t>
            </a:r>
            <a:r>
              <a:rPr lang="en-US" sz="2000" dirty="0" err="1"/>
              <a:t>encajar</a:t>
            </a:r>
            <a:r>
              <a:rPr lang="en-US" sz="2000" dirty="0"/>
              <a:t> </a:t>
            </a:r>
            <a:r>
              <a:rPr lang="en-US" sz="2000" dirty="0" err="1"/>
              <a:t>muy</a:t>
            </a:r>
            <a:r>
              <a:rPr lang="en-US" sz="2000" dirty="0"/>
              <a:t> bien </a:t>
            </a:r>
            <a:r>
              <a:rPr lang="en-US" sz="2000" dirty="0" err="1"/>
              <a:t>en</a:t>
            </a:r>
            <a:r>
              <a:rPr lang="en-US" sz="2000" dirty="0"/>
              <a:t> </a:t>
            </a:r>
            <a:r>
              <a:rPr lang="en-US" sz="2000" dirty="0" err="1"/>
              <a:t>el</a:t>
            </a:r>
            <a:r>
              <a:rPr lang="en-US" sz="2000" dirty="0"/>
              <a:t> Sistema del América </a:t>
            </a:r>
            <a:r>
              <a:rPr lang="en-US" sz="2000" dirty="0" err="1"/>
              <a:t>debido</a:t>
            </a:r>
            <a:r>
              <a:rPr lang="en-US" sz="2000" dirty="0"/>
              <a:t> a que le </a:t>
            </a:r>
            <a:r>
              <a:rPr lang="en-US" sz="2000" dirty="0" err="1"/>
              <a:t>gusta</a:t>
            </a:r>
            <a:r>
              <a:rPr lang="en-US" sz="2000" dirty="0"/>
              <a:t> </a:t>
            </a:r>
            <a:r>
              <a:rPr lang="en-US" sz="2000" dirty="0" err="1"/>
              <a:t>aparecer</a:t>
            </a:r>
            <a:r>
              <a:rPr lang="en-US" sz="2000" dirty="0"/>
              <a:t> entre </a:t>
            </a:r>
            <a:r>
              <a:rPr lang="en-US" sz="2000" dirty="0" err="1"/>
              <a:t>líneas</a:t>
            </a:r>
            <a:r>
              <a:rPr lang="en-US" sz="2000" dirty="0"/>
              <a:t>, </a:t>
            </a:r>
            <a:r>
              <a:rPr lang="en-US" sz="2000" dirty="0" err="1"/>
              <a:t>cerrar</a:t>
            </a:r>
            <a:r>
              <a:rPr lang="en-US" sz="2000" dirty="0"/>
              <a:t> </a:t>
            </a:r>
            <a:r>
              <a:rPr lang="en-US" sz="2000" dirty="0" err="1"/>
              <a:t>centros</a:t>
            </a:r>
            <a:r>
              <a:rPr lang="en-US" sz="2000" dirty="0"/>
              <a:t> a Segundo palo.</a:t>
            </a:r>
          </a:p>
          <a:p>
            <a:pPr marL="0" indent="0">
              <a:buNone/>
            </a:pPr>
            <a:r>
              <a:rPr lang="en-US" sz="2000" kern="1200" dirty="0">
                <a:latin typeface="+mn-lt"/>
                <a:ea typeface="+mn-ea"/>
                <a:cs typeface="+mn-cs"/>
              </a:rPr>
              <a:t>Tiene </a:t>
            </a:r>
            <a:r>
              <a:rPr lang="en-US" sz="2000" kern="1200" dirty="0" err="1">
                <a:latin typeface="+mn-lt"/>
                <a:ea typeface="+mn-ea"/>
                <a:cs typeface="+mn-cs"/>
              </a:rPr>
              <a:t>muchos</a:t>
            </a:r>
            <a:r>
              <a:rPr lang="en-US" sz="2000" kern="1200" dirty="0">
                <a:latin typeface="+mn-lt"/>
                <a:ea typeface="+mn-ea"/>
                <a:cs typeface="+mn-cs"/>
              </a:rPr>
              <a:t> </a:t>
            </a:r>
            <a:r>
              <a:rPr lang="en-US" sz="2000" kern="1200" dirty="0" err="1">
                <a:latin typeface="+mn-lt"/>
                <a:ea typeface="+mn-ea"/>
                <a:cs typeface="+mn-cs"/>
              </a:rPr>
              <a:t>minutos</a:t>
            </a:r>
            <a:r>
              <a:rPr lang="en-US" sz="2000" kern="1200" dirty="0">
                <a:latin typeface="+mn-lt"/>
                <a:ea typeface="+mn-ea"/>
                <a:cs typeface="+mn-cs"/>
              </a:rPr>
              <a:t>, por lo que </a:t>
            </a:r>
            <a:r>
              <a:rPr lang="en-US" sz="2000" kern="1200" dirty="0" err="1">
                <a:latin typeface="+mn-lt"/>
                <a:ea typeface="+mn-ea"/>
                <a:cs typeface="+mn-cs"/>
              </a:rPr>
              <a:t>su</a:t>
            </a:r>
            <a:r>
              <a:rPr lang="en-US" sz="2000" kern="1200" dirty="0">
                <a:latin typeface="+mn-lt"/>
                <a:ea typeface="+mn-ea"/>
                <a:cs typeface="+mn-cs"/>
              </a:rPr>
              <a:t> </a:t>
            </a:r>
            <a:r>
              <a:rPr lang="en-US" sz="2000" kern="1200" dirty="0" err="1">
                <a:latin typeface="+mn-lt"/>
                <a:ea typeface="+mn-ea"/>
                <a:cs typeface="+mn-cs"/>
              </a:rPr>
              <a:t>adaptación</a:t>
            </a:r>
            <a:r>
              <a:rPr lang="en-US" sz="2000" kern="1200" dirty="0">
                <a:latin typeface="+mn-lt"/>
                <a:ea typeface="+mn-ea"/>
                <a:cs typeface="+mn-cs"/>
              </a:rPr>
              <a:t> </a:t>
            </a:r>
            <a:r>
              <a:rPr lang="en-US" sz="2000" kern="1200" dirty="0" err="1">
                <a:latin typeface="+mn-lt"/>
                <a:ea typeface="+mn-ea"/>
                <a:cs typeface="+mn-cs"/>
              </a:rPr>
              <a:t>podría</a:t>
            </a:r>
            <a:r>
              <a:rPr lang="en-US" sz="2000" kern="1200" dirty="0">
                <a:latin typeface="+mn-lt"/>
                <a:ea typeface="+mn-ea"/>
                <a:cs typeface="+mn-cs"/>
              </a:rPr>
              <a:t> ser </a:t>
            </a:r>
            <a:r>
              <a:rPr lang="en-US" sz="2000" kern="1200" dirty="0" err="1">
                <a:latin typeface="+mn-lt"/>
                <a:ea typeface="+mn-ea"/>
                <a:cs typeface="+mn-cs"/>
              </a:rPr>
              <a:t>rápida</a:t>
            </a:r>
            <a:r>
              <a:rPr lang="en-US" sz="2000" kern="1200" dirty="0">
                <a:latin typeface="+mn-lt"/>
                <a:ea typeface="+mn-ea"/>
                <a:cs typeface="+mn-cs"/>
              </a:rPr>
              <a:t>.</a:t>
            </a:r>
          </a:p>
          <a:p>
            <a:pPr marL="0" indent="0">
              <a:buNone/>
            </a:pPr>
            <a:r>
              <a:rPr lang="en-US" sz="2000" dirty="0" err="1"/>
              <a:t>Ventaja</a:t>
            </a:r>
            <a:r>
              <a:rPr lang="en-US" sz="2000" dirty="0"/>
              <a:t>: Mayor pressing y </a:t>
            </a:r>
            <a:r>
              <a:rPr lang="en-US" sz="2000" dirty="0" err="1"/>
              <a:t>recuperación</a:t>
            </a:r>
            <a:r>
              <a:rPr lang="en-US" sz="2000" dirty="0"/>
              <a:t> </a:t>
            </a:r>
            <a:r>
              <a:rPr lang="en-US" sz="2000" dirty="0" err="1"/>
              <a:t>alta.</a:t>
            </a:r>
            <a:endParaRPr lang="en-US" sz="2000" dirty="0"/>
          </a:p>
          <a:p>
            <a:pPr marL="0" indent="0">
              <a:buNone/>
            </a:pPr>
            <a:r>
              <a:rPr lang="en-US" sz="2000" kern="1200" dirty="0" err="1">
                <a:latin typeface="+mn-lt"/>
                <a:ea typeface="+mn-ea"/>
                <a:cs typeface="+mn-cs"/>
              </a:rPr>
              <a:t>También</a:t>
            </a:r>
            <a:r>
              <a:rPr lang="en-US" sz="2000" kern="1200" dirty="0">
                <a:latin typeface="+mn-lt"/>
                <a:ea typeface="+mn-ea"/>
                <a:cs typeface="+mn-cs"/>
              </a:rPr>
              <a:t> </a:t>
            </a:r>
            <a:r>
              <a:rPr lang="en-US" sz="2000" kern="1200" dirty="0" err="1">
                <a:latin typeface="+mn-lt"/>
                <a:ea typeface="+mn-ea"/>
                <a:cs typeface="+mn-cs"/>
              </a:rPr>
              <a:t>descarga</a:t>
            </a:r>
            <a:r>
              <a:rPr lang="en-US" sz="2000" kern="1200" dirty="0">
                <a:latin typeface="+mn-lt"/>
                <a:ea typeface="+mn-ea"/>
                <a:cs typeface="+mn-cs"/>
              </a:rPr>
              <a:t> para </a:t>
            </a:r>
            <a:r>
              <a:rPr lang="en-US" sz="2000" kern="1200" dirty="0" err="1">
                <a:latin typeface="+mn-lt"/>
                <a:ea typeface="+mn-ea"/>
                <a:cs typeface="+mn-cs"/>
              </a:rPr>
              <a:t>incorporar</a:t>
            </a:r>
            <a:r>
              <a:rPr lang="en-US" sz="2000" kern="1200" dirty="0">
                <a:latin typeface="+mn-lt"/>
                <a:ea typeface="+mn-ea"/>
                <a:cs typeface="+mn-cs"/>
              </a:rPr>
              <a:t> a </a:t>
            </a:r>
            <a:r>
              <a:rPr lang="en-US" sz="2000" kern="1200" dirty="0" err="1">
                <a:latin typeface="+mn-lt"/>
                <a:ea typeface="+mn-ea"/>
                <a:cs typeface="+mn-cs"/>
              </a:rPr>
              <a:t>extremos</a:t>
            </a:r>
            <a:r>
              <a:rPr lang="en-US" sz="2000" kern="1200" dirty="0">
                <a:latin typeface="+mn-lt"/>
                <a:ea typeface="+mn-ea"/>
                <a:cs typeface="+mn-cs"/>
              </a:rPr>
              <a:t> y </a:t>
            </a:r>
            <a:r>
              <a:rPr lang="en-US" sz="2000" kern="1200" dirty="0" err="1">
                <a:latin typeface="+mn-lt"/>
                <a:ea typeface="+mn-ea"/>
                <a:cs typeface="+mn-cs"/>
              </a:rPr>
              <a:t>medios</a:t>
            </a:r>
            <a:r>
              <a:rPr lang="en-US" sz="2000" kern="1200" dirty="0">
                <a:latin typeface="+mn-lt"/>
                <a:ea typeface="+mn-ea"/>
                <a:cs typeface="+mn-cs"/>
              </a:rPr>
              <a:t> </a:t>
            </a:r>
            <a:r>
              <a:rPr lang="en-US" sz="2000" kern="1200" dirty="0" err="1">
                <a:latin typeface="+mn-lt"/>
                <a:ea typeface="+mn-ea"/>
                <a:cs typeface="+mn-cs"/>
              </a:rPr>
              <a:t>en</a:t>
            </a:r>
            <a:r>
              <a:rPr lang="en-US" sz="2000" kern="1200" dirty="0">
                <a:latin typeface="+mn-lt"/>
                <a:ea typeface="+mn-ea"/>
                <a:cs typeface="+mn-cs"/>
              </a:rPr>
              <a:t> </a:t>
            </a:r>
            <a:r>
              <a:rPr lang="en-US" sz="2000" kern="1200" dirty="0" err="1">
                <a:latin typeface="+mn-lt"/>
                <a:ea typeface="+mn-ea"/>
                <a:cs typeface="+mn-cs"/>
              </a:rPr>
              <a:t>segunda</a:t>
            </a:r>
            <a:r>
              <a:rPr lang="en-US" sz="2000" kern="1200" dirty="0">
                <a:latin typeface="+mn-lt"/>
                <a:ea typeface="+mn-ea"/>
                <a:cs typeface="+mn-cs"/>
              </a:rPr>
              <a:t> </a:t>
            </a:r>
            <a:r>
              <a:rPr lang="en-US" sz="2000" kern="1200" dirty="0" err="1">
                <a:latin typeface="+mn-lt"/>
                <a:ea typeface="+mn-ea"/>
                <a:cs typeface="+mn-cs"/>
              </a:rPr>
              <a:t>línea</a:t>
            </a:r>
            <a:r>
              <a:rPr lang="en-US" sz="2000" kern="1200" dirty="0">
                <a:latin typeface="+mn-lt"/>
                <a:ea typeface="+mn-ea"/>
                <a:cs typeface="+mn-cs"/>
              </a:rPr>
              <a:t>.</a:t>
            </a:r>
          </a:p>
          <a:p>
            <a:pPr marL="0" indent="0">
              <a:buNone/>
            </a:pPr>
            <a:r>
              <a:rPr lang="en-US" sz="2000" dirty="0" err="1"/>
              <a:t>Desventajas</a:t>
            </a:r>
            <a:r>
              <a:rPr lang="en-US" sz="2000" dirty="0"/>
              <a:t>: Falta </a:t>
            </a:r>
            <a:r>
              <a:rPr lang="en-US" sz="2000" dirty="0" err="1"/>
              <a:t>más</a:t>
            </a:r>
            <a:r>
              <a:rPr lang="en-US" sz="2000" dirty="0"/>
              <a:t> </a:t>
            </a:r>
            <a:r>
              <a:rPr lang="en-US" sz="2000" dirty="0" err="1"/>
              <a:t>contundencia</a:t>
            </a:r>
            <a:r>
              <a:rPr lang="en-US" sz="2000" dirty="0"/>
              <a:t>.</a:t>
            </a:r>
          </a:p>
          <a:p>
            <a:pPr marL="0" indent="0">
              <a:buNone/>
            </a:pPr>
            <a:r>
              <a:rPr lang="en-US" sz="2000" kern="1200" dirty="0">
                <a:latin typeface="+mn-lt"/>
                <a:ea typeface="+mn-ea"/>
                <a:cs typeface="+mn-cs"/>
              </a:rPr>
              <a:t>Se </a:t>
            </a:r>
            <a:r>
              <a:rPr lang="en-US" sz="2000" kern="1200" dirty="0" err="1">
                <a:latin typeface="+mn-lt"/>
                <a:ea typeface="+mn-ea"/>
                <a:cs typeface="+mn-cs"/>
              </a:rPr>
              <a:t>acaba</a:t>
            </a:r>
            <a:r>
              <a:rPr lang="en-US" sz="2000" kern="1200" dirty="0">
                <a:latin typeface="+mn-lt"/>
                <a:ea typeface="+mn-ea"/>
                <a:cs typeface="+mn-cs"/>
              </a:rPr>
              <a:t> de </a:t>
            </a:r>
            <a:r>
              <a:rPr lang="en-US" sz="2000" kern="1200" dirty="0" err="1">
                <a:latin typeface="+mn-lt"/>
                <a:ea typeface="+mn-ea"/>
                <a:cs typeface="+mn-cs"/>
              </a:rPr>
              <a:t>incorporar</a:t>
            </a:r>
            <a:r>
              <a:rPr lang="en-US" sz="2000" kern="1200" dirty="0">
                <a:latin typeface="+mn-lt"/>
                <a:ea typeface="+mn-ea"/>
                <a:cs typeface="+mn-cs"/>
              </a:rPr>
              <a:t> a Pachuca</a:t>
            </a:r>
          </a:p>
        </p:txBody>
      </p:sp>
      <p:pic>
        <p:nvPicPr>
          <p:cNvPr id="6" name="Imagen 5">
            <a:extLst>
              <a:ext uri="{FF2B5EF4-FFF2-40B4-BE49-F238E27FC236}">
                <a16:creationId xmlns:a16="http://schemas.microsoft.com/office/drawing/2014/main" id="{F5C3D7F4-2078-436F-B53A-2C5956AD5FDA}"/>
              </a:ext>
            </a:extLst>
          </p:cNvPr>
          <p:cNvPicPr>
            <a:picLocks noChangeAspect="1"/>
          </p:cNvPicPr>
          <p:nvPr/>
        </p:nvPicPr>
        <p:blipFill>
          <a:blip r:embed="rId2"/>
          <a:stretch>
            <a:fillRect/>
          </a:stretch>
        </p:blipFill>
        <p:spPr>
          <a:xfrm>
            <a:off x="7113542" y="774285"/>
            <a:ext cx="1778511" cy="1999673"/>
          </a:xfrm>
          <a:prstGeom prst="rect">
            <a:avLst/>
          </a:prstGeom>
        </p:spPr>
      </p:pic>
      <p:pic>
        <p:nvPicPr>
          <p:cNvPr id="7" name="Imagen 6">
            <a:extLst>
              <a:ext uri="{FF2B5EF4-FFF2-40B4-BE49-F238E27FC236}">
                <a16:creationId xmlns:a16="http://schemas.microsoft.com/office/drawing/2014/main" id="{208A99C4-694D-4D48-90FF-FEF95E5E3BD9}"/>
              </a:ext>
            </a:extLst>
          </p:cNvPr>
          <p:cNvPicPr>
            <a:picLocks noChangeAspect="1"/>
          </p:cNvPicPr>
          <p:nvPr/>
        </p:nvPicPr>
        <p:blipFill>
          <a:blip r:embed="rId3"/>
          <a:stretch>
            <a:fillRect/>
          </a:stretch>
        </p:blipFill>
        <p:spPr>
          <a:xfrm>
            <a:off x="9223523" y="856264"/>
            <a:ext cx="2112264" cy="1835714"/>
          </a:xfrm>
          <a:prstGeom prst="rect">
            <a:avLst/>
          </a:prstGeom>
        </p:spPr>
      </p:pic>
      <p:pic>
        <p:nvPicPr>
          <p:cNvPr id="5" name="Imagen 4">
            <a:extLst>
              <a:ext uri="{FF2B5EF4-FFF2-40B4-BE49-F238E27FC236}">
                <a16:creationId xmlns:a16="http://schemas.microsoft.com/office/drawing/2014/main" id="{7F4BFFEF-78A3-48EC-B0B4-A7D0C3323F03}"/>
              </a:ext>
            </a:extLst>
          </p:cNvPr>
          <p:cNvPicPr>
            <a:picLocks noChangeAspect="1"/>
          </p:cNvPicPr>
          <p:nvPr/>
        </p:nvPicPr>
        <p:blipFill>
          <a:blip r:embed="rId4"/>
          <a:stretch>
            <a:fillRect/>
          </a:stretch>
        </p:blipFill>
        <p:spPr>
          <a:xfrm>
            <a:off x="6946667" y="3485114"/>
            <a:ext cx="4389120" cy="2128723"/>
          </a:xfrm>
          <a:prstGeom prst="rect">
            <a:avLst/>
          </a:prstGeom>
        </p:spPr>
      </p:pic>
    </p:spTree>
    <p:extLst>
      <p:ext uri="{BB962C8B-B14F-4D97-AF65-F5344CB8AC3E}">
        <p14:creationId xmlns:p14="http://schemas.microsoft.com/office/powerpoint/2010/main" val="3432374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9">
            <a:extLst>
              <a:ext uri="{FF2B5EF4-FFF2-40B4-BE49-F238E27FC236}">
                <a16:creationId xmlns:a16="http://schemas.microsoft.com/office/drawing/2014/main" id="{3756B343-807D-456E-AA26-80E96B75D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B3E5343-55F3-4556-B0FF-FC199AA94ED1}"/>
              </a:ext>
            </a:extLst>
          </p:cNvPr>
          <p:cNvSpPr>
            <a:spLocks noGrp="1"/>
          </p:cNvSpPr>
          <p:nvPr>
            <p:ph type="title"/>
          </p:nvPr>
        </p:nvSpPr>
        <p:spPr>
          <a:xfrm>
            <a:off x="7239014" y="525982"/>
            <a:ext cx="4282983" cy="1200361"/>
          </a:xfrm>
        </p:spPr>
        <p:txBody>
          <a:bodyPr anchor="b">
            <a:normAutofit/>
          </a:bodyPr>
          <a:lstStyle/>
          <a:p>
            <a:r>
              <a:rPr lang="es-MX" sz="3600"/>
              <a:t>Conclusión</a:t>
            </a:r>
          </a:p>
        </p:txBody>
      </p:sp>
      <p:sp>
        <p:nvSpPr>
          <p:cNvPr id="19" name="Rectangle 1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Un grupo de personas con uniforme de fútbol&#10;&#10;Descripción generada automáticamente">
            <a:extLst>
              <a:ext uri="{FF2B5EF4-FFF2-40B4-BE49-F238E27FC236}">
                <a16:creationId xmlns:a16="http://schemas.microsoft.com/office/drawing/2014/main" id="{640271DF-A983-4E89-A30B-5716B74C32DD}"/>
              </a:ext>
            </a:extLst>
          </p:cNvPr>
          <p:cNvPicPr>
            <a:picLocks noChangeAspect="1"/>
          </p:cNvPicPr>
          <p:nvPr/>
        </p:nvPicPr>
        <p:blipFill>
          <a:blip r:embed="rId2">
            <a:extLst>
              <a:ext uri="{28A0092B-C50C-407E-A947-70E740481C1C}">
                <a14:useLocalDpi xmlns:a14="http://schemas.microsoft.com/office/drawing/2010/main" val="0"/>
              </a:ext>
            </a:extLst>
          </a:blip>
          <a:srcRect l="21961" r="7745" b="2"/>
          <a:stretch>
            <a:fillRect/>
          </a:stretch>
        </p:blipFill>
        <p:spPr>
          <a:xfrm>
            <a:off x="576244" y="650494"/>
            <a:ext cx="5628018" cy="5324142"/>
          </a:xfrm>
          <a:prstGeom prst="rect">
            <a:avLst/>
          </a:prstGeom>
        </p:spPr>
      </p:pic>
      <p:sp>
        <p:nvSpPr>
          <p:cNvPr id="22" name="Rectangle 1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60615A0-C336-4CEC-A775-E5F783743E4E}"/>
              </a:ext>
            </a:extLst>
          </p:cNvPr>
          <p:cNvSpPr>
            <a:spLocks noGrp="1"/>
          </p:cNvSpPr>
          <p:nvPr>
            <p:ph idx="1"/>
          </p:nvPr>
        </p:nvSpPr>
        <p:spPr>
          <a:xfrm>
            <a:off x="7239012" y="2031101"/>
            <a:ext cx="4282984" cy="3511943"/>
          </a:xfrm>
        </p:spPr>
        <p:txBody>
          <a:bodyPr anchor="ctr">
            <a:normAutofit/>
          </a:bodyPr>
          <a:lstStyle/>
          <a:p>
            <a:r>
              <a:rPr lang="es-MX" sz="1200" dirty="0"/>
              <a:t>Con una </a:t>
            </a:r>
            <a:r>
              <a:rPr lang="es-MX" sz="1200" dirty="0" err="1"/>
              <a:t>shortlist</a:t>
            </a:r>
            <a:r>
              <a:rPr lang="es-MX" sz="1200" dirty="0"/>
              <a:t> cuidada por rendimiento, salud y viabilidad, pensada para sostener el nivel del equipo y subir el techo competitivo. Priorizamos jugadoras que encajan en nuestro modelo (centrales con lectura, juego aéreo y salida limpia; y un 9 con volumen de remate, creación y presencia a balón parado), con edades adecuadas y procedentes de ligas de igual o mayor exigencia. El grupo equilibra impacto inmediato y proyección, incluye al menos una sub-23 y opciones extranjeras fuera de la Liga MX Femenil, y evita perfiles de difícil salida de sus clubes.</a:t>
            </a:r>
          </a:p>
          <a:p>
            <a:r>
              <a:rPr lang="es-MX" sz="1200" dirty="0"/>
              <a:t>En síntesis, estos nombres nos dan variantes reales: más solidez en área propia, mejores recuperaciones hacia adelante y una amenaza constante en el área rival. </a:t>
            </a:r>
          </a:p>
        </p:txBody>
      </p:sp>
      <p:sp>
        <p:nvSpPr>
          <p:cNvPr id="23" name="Rectangle 1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2907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45B1D5C-0827-4AF0-8186-11FC5A8B8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D52511-B488-4B8E-8957-98D8B82C1000}"/>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a:t>Gracias</a:t>
            </a:r>
          </a:p>
        </p:txBody>
      </p:sp>
      <p:sp>
        <p:nvSpPr>
          <p:cNvPr id="30" name="Rectangle 2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Un grupo de personas disfrazadas&#10;&#10;Descripción generada automáticamente con confianza baja">
            <a:extLst>
              <a:ext uri="{FF2B5EF4-FFF2-40B4-BE49-F238E27FC236}">
                <a16:creationId xmlns:a16="http://schemas.microsoft.com/office/drawing/2014/main" id="{44176C26-D8F0-46EA-B8D1-6078F9D6373E}"/>
              </a:ext>
            </a:extLst>
          </p:cNvPr>
          <p:cNvPicPr>
            <a:picLocks noChangeAspect="1"/>
          </p:cNvPicPr>
          <p:nvPr/>
        </p:nvPicPr>
        <p:blipFill>
          <a:blip r:embed="rId2">
            <a:extLst>
              <a:ext uri="{28A0092B-C50C-407E-A947-70E740481C1C}">
                <a14:useLocalDpi xmlns:a14="http://schemas.microsoft.com/office/drawing/2010/main" val="0"/>
              </a:ext>
            </a:extLst>
          </a:blip>
          <a:srcRect l="2559" r="-1" b="-1"/>
          <a:stretch>
            <a:fillRect/>
          </a:stretch>
        </p:blipFill>
        <p:spPr>
          <a:xfrm>
            <a:off x="545238" y="858525"/>
            <a:ext cx="7608304" cy="5211906"/>
          </a:xfrm>
          <a:prstGeom prst="rect">
            <a:avLst/>
          </a:prstGeom>
        </p:spPr>
      </p:pic>
      <p:sp>
        <p:nvSpPr>
          <p:cNvPr id="34" name="Rectangle 3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8704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9EDCD6-DE67-41C3-A49A-8E5E4AE524B8}"/>
              </a:ext>
            </a:extLst>
          </p:cNvPr>
          <p:cNvSpPr>
            <a:spLocks noGrp="1"/>
          </p:cNvSpPr>
          <p:nvPr>
            <p:ph type="title"/>
          </p:nvPr>
        </p:nvSpPr>
        <p:spPr>
          <a:xfrm>
            <a:off x="1282963" y="1238080"/>
            <a:ext cx="9849751" cy="1349671"/>
          </a:xfrm>
        </p:spPr>
        <p:txBody>
          <a:bodyPr anchor="b">
            <a:normAutofit/>
          </a:bodyPr>
          <a:lstStyle/>
          <a:p>
            <a:r>
              <a:rPr lang="es-MX" sz="5400"/>
              <a:t>Anexos</a:t>
            </a:r>
          </a:p>
        </p:txBody>
      </p:sp>
      <p:sp>
        <p:nvSpPr>
          <p:cNvPr id="3" name="Marcador de contenido 2">
            <a:extLst>
              <a:ext uri="{FF2B5EF4-FFF2-40B4-BE49-F238E27FC236}">
                <a16:creationId xmlns:a16="http://schemas.microsoft.com/office/drawing/2014/main" id="{1894F93B-23BA-46CB-8952-62B12AE04D48}"/>
              </a:ext>
            </a:extLst>
          </p:cNvPr>
          <p:cNvSpPr>
            <a:spLocks noGrp="1"/>
          </p:cNvSpPr>
          <p:nvPr>
            <p:ph idx="1"/>
          </p:nvPr>
        </p:nvSpPr>
        <p:spPr>
          <a:xfrm>
            <a:off x="1289304" y="2902913"/>
            <a:ext cx="9849751" cy="3032168"/>
          </a:xfrm>
        </p:spPr>
        <p:txBody>
          <a:bodyPr anchor="ctr">
            <a:normAutofit/>
          </a:bodyPr>
          <a:lstStyle/>
          <a:p>
            <a:pPr>
              <a:defRPr sz="1800"/>
            </a:pPr>
            <a:r>
              <a:rPr lang="es-MX" sz="1400" dirty="0"/>
              <a:t>Fórmulas:</a:t>
            </a:r>
          </a:p>
          <a:p>
            <a:pPr lvl="1">
              <a:defRPr sz="1800"/>
            </a:pPr>
            <a:r>
              <a:rPr lang="en-US" sz="1000" dirty="0"/>
              <a:t>CB: 0.23·Tkl90 + 0.22·Int90 + 0.18·Clr90 + 0.17·PR90 + 0.12·ADW90 + 0.12·Pass% − 0.10·Cards/90.</a:t>
            </a:r>
          </a:p>
          <a:p>
            <a:pPr lvl="1">
              <a:defRPr sz="1800"/>
            </a:pPr>
            <a:r>
              <a:rPr lang="en-US" sz="1000" dirty="0"/>
              <a:t>CF: 0.45·G/90 + 0.25·xG/90 + 0.10·SoT/90 + 0.10·Conv% + 0.05·ADW/90 + 0.05·KP/90.</a:t>
            </a:r>
          </a:p>
          <a:p>
            <a:pPr lvl="1">
              <a:defRPr sz="1800"/>
            </a:pPr>
            <a:r>
              <a:rPr lang="en-US" sz="1000" dirty="0"/>
              <a:t>Score </a:t>
            </a:r>
            <a:r>
              <a:rPr lang="en-US" sz="1000" dirty="0" err="1"/>
              <a:t>compuesto</a:t>
            </a:r>
            <a:r>
              <a:rPr lang="en-US" sz="1000" dirty="0"/>
              <a:t> = </a:t>
            </a:r>
            <a:r>
              <a:rPr lang="en-US" sz="1000" dirty="0" err="1"/>
              <a:t>score_rol</a:t>
            </a:r>
            <a:r>
              <a:rPr lang="en-US" sz="1000" dirty="0"/>
              <a:t> × </a:t>
            </a:r>
            <a:r>
              <a:rPr lang="en-US" sz="1000" dirty="0" err="1"/>
              <a:t>signability</a:t>
            </a:r>
            <a:endParaRPr lang="en-US" sz="1000" dirty="0"/>
          </a:p>
          <a:p>
            <a:pPr>
              <a:defRPr sz="1800"/>
            </a:pPr>
            <a:endParaRPr lang="en-US" sz="1400" dirty="0"/>
          </a:p>
          <a:p>
            <a:pPr>
              <a:defRPr sz="1800"/>
            </a:pPr>
            <a:r>
              <a:rPr lang="en-US" sz="1400" dirty="0" err="1"/>
              <a:t>Subiré</a:t>
            </a:r>
            <a:r>
              <a:rPr lang="en-US" sz="1400" dirty="0"/>
              <a:t> </a:t>
            </a:r>
            <a:r>
              <a:rPr lang="en-US" sz="1400" dirty="0" err="1"/>
              <a:t>toda</a:t>
            </a:r>
            <a:r>
              <a:rPr lang="en-US" sz="1400" dirty="0"/>
              <a:t> la </a:t>
            </a:r>
            <a:r>
              <a:rPr lang="en-US" sz="1400" dirty="0" err="1"/>
              <a:t>información</a:t>
            </a:r>
            <a:r>
              <a:rPr lang="en-US" sz="1400" dirty="0"/>
              <a:t> a:</a:t>
            </a:r>
          </a:p>
          <a:p>
            <a:pPr lvl="1">
              <a:defRPr sz="1800"/>
            </a:pPr>
            <a:r>
              <a:rPr lang="es-MX" sz="1000" dirty="0">
                <a:hlinkClick r:id="rId2"/>
              </a:rPr>
              <a:t>https://github.com/mabelation/America-Femenil-Scouting</a:t>
            </a:r>
            <a:endParaRPr lang="es-MX" sz="1000" dirty="0"/>
          </a:p>
          <a:p>
            <a:pPr lvl="1">
              <a:defRPr sz="1800"/>
            </a:pPr>
            <a:r>
              <a:rPr lang="es-MX" sz="1400" dirty="0"/>
              <a:t>Actualmente sólo están los scripts de web </a:t>
            </a:r>
            <a:r>
              <a:rPr lang="es-MX" sz="1400" dirty="0" err="1"/>
              <a:t>scraping</a:t>
            </a:r>
            <a:r>
              <a:rPr lang="es-MX" sz="1400" dirty="0"/>
              <a:t>.</a:t>
            </a:r>
          </a:p>
        </p:txBody>
      </p:sp>
    </p:spTree>
    <p:extLst>
      <p:ext uri="{BB962C8B-B14F-4D97-AF65-F5344CB8AC3E}">
        <p14:creationId xmlns:p14="http://schemas.microsoft.com/office/powerpoint/2010/main" val="24600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6912F47-F81B-4958-AA40-D9D326752C63}"/>
              </a:ext>
            </a:extLst>
          </p:cNvPr>
          <p:cNvSpPr>
            <a:spLocks noGrp="1"/>
          </p:cNvSpPr>
          <p:nvPr>
            <p:ph type="title"/>
          </p:nvPr>
        </p:nvSpPr>
        <p:spPr>
          <a:xfrm>
            <a:off x="1057025" y="922644"/>
            <a:ext cx="5040285" cy="1169585"/>
          </a:xfrm>
        </p:spPr>
        <p:txBody>
          <a:bodyPr anchor="b">
            <a:normAutofit/>
          </a:bodyPr>
          <a:lstStyle/>
          <a:p>
            <a:r>
              <a:rPr lang="es-MX" sz="4000" dirty="0"/>
              <a:t>Cluster Delantera</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37DEEFA-C100-4FB9-8305-CE19220520CD}"/>
              </a:ext>
            </a:extLst>
          </p:cNvPr>
          <p:cNvSpPr>
            <a:spLocks noGrp="1"/>
          </p:cNvSpPr>
          <p:nvPr>
            <p:ph idx="1"/>
          </p:nvPr>
        </p:nvSpPr>
        <p:spPr>
          <a:xfrm>
            <a:off x="1055715" y="2508105"/>
            <a:ext cx="5040285" cy="3632493"/>
          </a:xfrm>
        </p:spPr>
        <p:txBody>
          <a:bodyPr anchor="ctr">
            <a:normAutofit/>
          </a:bodyPr>
          <a:lstStyle/>
          <a:p>
            <a:r>
              <a:rPr lang="es-MX" sz="2000" dirty="0"/>
              <a:t>Por Cluster la delantera centro que más se ajusta es: Kayla McCoy. Buen volumen de juego y finalizadora</a:t>
            </a:r>
          </a:p>
        </p:txBody>
      </p:sp>
      <p:pic>
        <p:nvPicPr>
          <p:cNvPr id="7" name="Imagen 6">
            <a:extLst>
              <a:ext uri="{FF2B5EF4-FFF2-40B4-BE49-F238E27FC236}">
                <a16:creationId xmlns:a16="http://schemas.microsoft.com/office/drawing/2014/main" id="{AF28D388-D780-4499-8BA0-1A20F9EDFF81}"/>
              </a:ext>
            </a:extLst>
          </p:cNvPr>
          <p:cNvPicPr>
            <a:picLocks noChangeAspect="1"/>
          </p:cNvPicPr>
          <p:nvPr/>
        </p:nvPicPr>
        <p:blipFill>
          <a:blip r:embed="rId2"/>
          <a:stretch>
            <a:fillRect/>
          </a:stretch>
        </p:blipFill>
        <p:spPr>
          <a:xfrm>
            <a:off x="7426408" y="774285"/>
            <a:ext cx="3429638" cy="2581173"/>
          </a:xfrm>
          <a:prstGeom prst="rect">
            <a:avLst/>
          </a:prstGeom>
        </p:spPr>
      </p:pic>
      <p:pic>
        <p:nvPicPr>
          <p:cNvPr id="5" name="Imagen 4">
            <a:extLst>
              <a:ext uri="{FF2B5EF4-FFF2-40B4-BE49-F238E27FC236}">
                <a16:creationId xmlns:a16="http://schemas.microsoft.com/office/drawing/2014/main" id="{0B0D3277-D140-4BFA-945B-7AD7D02B6113}"/>
              </a:ext>
            </a:extLst>
          </p:cNvPr>
          <p:cNvPicPr>
            <a:picLocks noChangeAspect="1"/>
          </p:cNvPicPr>
          <p:nvPr/>
        </p:nvPicPr>
        <p:blipFill>
          <a:blip r:embed="rId3"/>
          <a:stretch>
            <a:fillRect/>
          </a:stretch>
        </p:blipFill>
        <p:spPr>
          <a:xfrm>
            <a:off x="7387880" y="3575074"/>
            <a:ext cx="3506693" cy="2581173"/>
          </a:xfrm>
          <a:prstGeom prst="rect">
            <a:avLst/>
          </a:prstGeom>
        </p:spPr>
      </p:pic>
      <p:pic>
        <p:nvPicPr>
          <p:cNvPr id="10" name="Imagen 9">
            <a:extLst>
              <a:ext uri="{FF2B5EF4-FFF2-40B4-BE49-F238E27FC236}">
                <a16:creationId xmlns:a16="http://schemas.microsoft.com/office/drawing/2014/main" id="{D1B37DFD-6F31-44C4-81FF-33F747FB52F2}"/>
              </a:ext>
            </a:extLst>
          </p:cNvPr>
          <p:cNvPicPr>
            <a:picLocks noChangeAspect="1"/>
          </p:cNvPicPr>
          <p:nvPr/>
        </p:nvPicPr>
        <p:blipFill>
          <a:blip r:embed="rId4"/>
          <a:stretch>
            <a:fillRect/>
          </a:stretch>
        </p:blipFill>
        <p:spPr>
          <a:xfrm>
            <a:off x="853120" y="4703687"/>
            <a:ext cx="6157168" cy="600063"/>
          </a:xfrm>
          <a:prstGeom prst="rect">
            <a:avLst/>
          </a:prstGeom>
        </p:spPr>
      </p:pic>
    </p:spTree>
    <p:extLst>
      <p:ext uri="{BB962C8B-B14F-4D97-AF65-F5344CB8AC3E}">
        <p14:creationId xmlns:p14="http://schemas.microsoft.com/office/powerpoint/2010/main" val="1415125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80535DE-756A-47EF-8681-47313D2674BF}"/>
              </a:ext>
            </a:extLst>
          </p:cNvPr>
          <p:cNvSpPr>
            <a:spLocks noGrp="1"/>
          </p:cNvSpPr>
          <p:nvPr>
            <p:ph type="title"/>
          </p:nvPr>
        </p:nvSpPr>
        <p:spPr>
          <a:xfrm>
            <a:off x="1057025" y="922644"/>
            <a:ext cx="5040285" cy="1169585"/>
          </a:xfrm>
        </p:spPr>
        <p:txBody>
          <a:bodyPr anchor="b">
            <a:normAutofit/>
          </a:bodyPr>
          <a:lstStyle/>
          <a:p>
            <a:r>
              <a:rPr lang="es-MX" sz="4000"/>
              <a:t>Cluster Defensa central</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61A61D8-0E13-4D94-A8EF-68D567F37975}"/>
              </a:ext>
            </a:extLst>
          </p:cNvPr>
          <p:cNvSpPr>
            <a:spLocks noGrp="1"/>
          </p:cNvSpPr>
          <p:nvPr>
            <p:ph idx="1"/>
          </p:nvPr>
        </p:nvSpPr>
        <p:spPr>
          <a:xfrm>
            <a:off x="1055715" y="2508105"/>
            <a:ext cx="5040285" cy="3632493"/>
          </a:xfrm>
        </p:spPr>
        <p:txBody>
          <a:bodyPr anchor="ctr">
            <a:normAutofit/>
          </a:bodyPr>
          <a:lstStyle/>
          <a:p>
            <a:r>
              <a:rPr lang="es-MX" sz="2000" dirty="0"/>
              <a:t>La defensa más proactiva y agresiva es Rebeca Bernal, clúster 4</a:t>
            </a:r>
          </a:p>
        </p:txBody>
      </p:sp>
      <p:pic>
        <p:nvPicPr>
          <p:cNvPr id="7" name="Imagen 6">
            <a:extLst>
              <a:ext uri="{FF2B5EF4-FFF2-40B4-BE49-F238E27FC236}">
                <a16:creationId xmlns:a16="http://schemas.microsoft.com/office/drawing/2014/main" id="{74EA7825-4D26-4E45-8CBE-EBCA63F4D2DF}"/>
              </a:ext>
            </a:extLst>
          </p:cNvPr>
          <p:cNvPicPr>
            <a:picLocks noChangeAspect="1"/>
          </p:cNvPicPr>
          <p:nvPr/>
        </p:nvPicPr>
        <p:blipFill>
          <a:blip r:embed="rId2"/>
          <a:stretch>
            <a:fillRect/>
          </a:stretch>
        </p:blipFill>
        <p:spPr>
          <a:xfrm>
            <a:off x="7402304" y="774285"/>
            <a:ext cx="3477845" cy="2581173"/>
          </a:xfrm>
          <a:prstGeom prst="rect">
            <a:avLst/>
          </a:prstGeom>
        </p:spPr>
      </p:pic>
      <p:pic>
        <p:nvPicPr>
          <p:cNvPr id="5" name="Imagen 4">
            <a:extLst>
              <a:ext uri="{FF2B5EF4-FFF2-40B4-BE49-F238E27FC236}">
                <a16:creationId xmlns:a16="http://schemas.microsoft.com/office/drawing/2014/main" id="{4EDA2E30-BCD9-417F-9F80-84A1459E87C1}"/>
              </a:ext>
            </a:extLst>
          </p:cNvPr>
          <p:cNvPicPr>
            <a:picLocks noChangeAspect="1"/>
          </p:cNvPicPr>
          <p:nvPr/>
        </p:nvPicPr>
        <p:blipFill>
          <a:blip r:embed="rId3"/>
          <a:stretch>
            <a:fillRect/>
          </a:stretch>
        </p:blipFill>
        <p:spPr>
          <a:xfrm>
            <a:off x="7388611" y="3575074"/>
            <a:ext cx="3505232" cy="2581173"/>
          </a:xfrm>
          <a:prstGeom prst="rect">
            <a:avLst/>
          </a:prstGeom>
        </p:spPr>
      </p:pic>
    </p:spTree>
    <p:extLst>
      <p:ext uri="{BB962C8B-B14F-4D97-AF65-F5344CB8AC3E}">
        <p14:creationId xmlns:p14="http://schemas.microsoft.com/office/powerpoint/2010/main" val="1264266124"/>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3040</TotalTime>
  <Words>1741</Words>
  <Application>Microsoft Office PowerPoint</Application>
  <PresentationFormat>Panorámica</PresentationFormat>
  <Paragraphs>155</Paragraphs>
  <Slides>23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Calibri</vt:lpstr>
      <vt:lpstr>Calibri Light</vt:lpstr>
      <vt:lpstr>Office Theme</vt:lpstr>
      <vt:lpstr>Scouting Analysis</vt:lpstr>
      <vt:lpstr>Introducción</vt:lpstr>
      <vt:lpstr>Estilo de juego</vt:lpstr>
      <vt:lpstr>Diagnóstico América Femenil</vt:lpstr>
      <vt:lpstr>FODA</vt:lpstr>
      <vt:lpstr>Posiciones consideradas: Delanteras</vt:lpstr>
      <vt:lpstr>Posiciones consideradas: Centrales</vt:lpstr>
      <vt:lpstr>Elección de jugadoras</vt:lpstr>
      <vt:lpstr>Defensas</vt:lpstr>
      <vt:lpstr>Phoebe McClernon</vt:lpstr>
      <vt:lpstr>Tara McKeown</vt:lpstr>
      <vt:lpstr>Núbia Lopes</vt:lpstr>
      <vt:lpstr>Ana Mendoza Mexicana sub 23</vt:lpstr>
      <vt:lpstr>Delanteras</vt:lpstr>
      <vt:lpstr>Leticia Ferreira Moreno Santos</vt:lpstr>
      <vt:lpstr>Kayla McCoy</vt:lpstr>
      <vt:lpstr>Paulina Gramaglia</vt:lpstr>
      <vt:lpstr>Paola García Sub 23 Mexicana</vt:lpstr>
      <vt:lpstr>Conclusión</vt:lpstr>
      <vt:lpstr>Gracias</vt:lpstr>
      <vt:lpstr>Anexos</vt:lpstr>
      <vt:lpstr>Cluster Delantera</vt:lpstr>
      <vt:lpstr>Cluster Defensa central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Scouting Analysis</dc:title>
  <dc:creator>Inteligencia CS</dc:creator>
  <cp:lastModifiedBy>Inteligencia CS</cp:lastModifiedBy>
  <cp:revision>48</cp:revision>
  <dcterms:created xsi:type="dcterms:W3CDTF">2025-09-06T07:03:24Z</dcterms:created>
  <dcterms:modified xsi:type="dcterms:W3CDTF">2025-09-08T09:46:47Z</dcterms:modified>
</cp:coreProperties>
</file>